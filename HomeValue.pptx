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6" r:id="rId6"/>
    <p:sldId id="261" r:id="rId7"/>
    <p:sldId id="262" r:id="rId8"/>
    <p:sldId id="263" r:id="rId9"/>
    <p:sldId id="264" r:id="rId10"/>
    <p:sldId id="265" r:id="rId11"/>
  </p:sldIdLst>
  <p:sldSz cx="9144000" cy="5143500" type="screen16x9"/>
  <p:notesSz cx="5143500" cy="9144000"/>
  <p:embeddedFontLst>
    <p:embeddedFont>
      <p:font typeface="Crimson Pro Bold" panose="020B0604020202020204" charset="0"/>
      <p:regular r:id="rId13"/>
    </p:embeddedFont>
    <p:embeddedFont>
      <p:font typeface="Inconsolata" pitchFamily="1" charset="0"/>
      <p:regular r:id="rId14"/>
    </p:embeddedFont>
    <p:embeddedFont>
      <p:font typeface="Inconsolata Bold" pitchFamily="1" charset="0"/>
      <p:regular r:id="rId15"/>
    </p:embeddedFont>
    <p:embeddedFont>
      <p:font typeface="Montserrat Black" panose="00000A00000000000000" pitchFamily="2" charset="0"/>
      <p:regular r:id="rId16"/>
    </p:embeddedFont>
    <p:embeddedFont>
      <p:font typeface="Open Sans" panose="020B0606030504020204" pitchFamily="34" charset="0"/>
      <p:regular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7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yasheokand538@outlook.com" userId="4616f889652fc039" providerId="LiveId" clId="{2642A41F-FD68-452D-8DA8-750106AE8922}"/>
    <pc:docChg chg="custSel addSld delSld modSld">
      <pc:chgData name="diyasheokand538@outlook.com" userId="4616f889652fc039" providerId="LiveId" clId="{2642A41F-FD68-452D-8DA8-750106AE8922}" dt="2026-07-09T08:01:34.861" v="46" actId="20577"/>
      <pc:docMkLst>
        <pc:docMk/>
      </pc:docMkLst>
      <pc:sldChg chg="del">
        <pc:chgData name="diyasheokand538@outlook.com" userId="4616f889652fc039" providerId="LiveId" clId="{2642A41F-FD68-452D-8DA8-750106AE8922}" dt="2026-07-09T08:00:47.124" v="34" actId="2696"/>
        <pc:sldMkLst>
          <pc:docMk/>
          <pc:sldMk cId="0" sldId="260"/>
        </pc:sldMkLst>
      </pc:sldChg>
      <pc:sldChg chg="delSp modSp mod">
        <pc:chgData name="diyasheokand538@outlook.com" userId="4616f889652fc039" providerId="LiveId" clId="{2642A41F-FD68-452D-8DA8-750106AE8922}" dt="2026-07-09T08:01:34.861" v="46" actId="20577"/>
        <pc:sldMkLst>
          <pc:docMk/>
          <pc:sldMk cId="0" sldId="265"/>
        </pc:sldMkLst>
        <pc:spChg chg="mod">
          <ac:chgData name="diyasheokand538@outlook.com" userId="4616f889652fc039" providerId="LiveId" clId="{2642A41F-FD68-452D-8DA8-750106AE8922}" dt="2026-07-09T08:01:34.861" v="46" actId="20577"/>
          <ac:spMkLst>
            <pc:docMk/>
            <pc:sldMk cId="0" sldId="265"/>
            <ac:spMk id="3" creationId="{00000000-0000-0000-0000-000000000000}"/>
          </ac:spMkLst>
        </pc:spChg>
        <pc:picChg chg="del">
          <ac:chgData name="diyasheokand538@outlook.com" userId="4616f889652fc039" providerId="LiveId" clId="{2642A41F-FD68-452D-8DA8-750106AE8922}" dt="2026-07-09T08:01:11.523" v="35" actId="21"/>
          <ac:picMkLst>
            <pc:docMk/>
            <pc:sldMk cId="0" sldId="265"/>
            <ac:picMk id="4" creationId="{00000000-0000-0000-0000-000000000000}"/>
          </ac:picMkLst>
        </pc:picChg>
        <pc:picChg chg="del">
          <ac:chgData name="diyasheokand538@outlook.com" userId="4616f889652fc039" providerId="LiveId" clId="{2642A41F-FD68-452D-8DA8-750106AE8922}" dt="2026-07-09T08:01:16.977" v="36" actId="21"/>
          <ac:picMkLst>
            <pc:docMk/>
            <pc:sldMk cId="0" sldId="265"/>
            <ac:picMk id="5" creationId="{00000000-0000-0000-0000-000000000000}"/>
          </ac:picMkLst>
        </pc:picChg>
      </pc:sldChg>
      <pc:sldChg chg="addSp modSp new mod">
        <pc:chgData name="diyasheokand538@outlook.com" userId="4616f889652fc039" providerId="LiveId" clId="{2642A41F-FD68-452D-8DA8-750106AE8922}" dt="2026-07-09T08:00:41.314" v="33" actId="1076"/>
        <pc:sldMkLst>
          <pc:docMk/>
          <pc:sldMk cId="2093744687" sldId="266"/>
        </pc:sldMkLst>
        <pc:spChg chg="add mod">
          <ac:chgData name="diyasheokand538@outlook.com" userId="4616f889652fc039" providerId="LiveId" clId="{2642A41F-FD68-452D-8DA8-750106AE8922}" dt="2026-07-09T07:54:46.302" v="6" actId="14100"/>
          <ac:spMkLst>
            <pc:docMk/>
            <pc:sldMk cId="2093744687" sldId="266"/>
            <ac:spMk id="5" creationId="{316A6F1A-2500-9F78-8B61-E0A5BE80143B}"/>
          </ac:spMkLst>
        </pc:spChg>
        <pc:spChg chg="add mod">
          <ac:chgData name="diyasheokand538@outlook.com" userId="4616f889652fc039" providerId="LiveId" clId="{2642A41F-FD68-452D-8DA8-750106AE8922}" dt="2026-07-09T07:56:07.174" v="12" actId="1076"/>
          <ac:spMkLst>
            <pc:docMk/>
            <pc:sldMk cId="2093744687" sldId="266"/>
            <ac:spMk id="7" creationId="{D0F2ED24-D6DD-6832-DA3A-39BC33B307AC}"/>
          </ac:spMkLst>
        </pc:spChg>
        <pc:spChg chg="add mod">
          <ac:chgData name="diyasheokand538@outlook.com" userId="4616f889652fc039" providerId="LiveId" clId="{2642A41F-FD68-452D-8DA8-750106AE8922}" dt="2026-07-09T07:57:00.700" v="14" actId="1076"/>
          <ac:spMkLst>
            <pc:docMk/>
            <pc:sldMk cId="2093744687" sldId="266"/>
            <ac:spMk id="9" creationId="{CA343288-439A-2F92-16C4-0183EB15C629}"/>
          </ac:spMkLst>
        </pc:spChg>
        <pc:spChg chg="add mod">
          <ac:chgData name="diyasheokand538@outlook.com" userId="4616f889652fc039" providerId="LiveId" clId="{2642A41F-FD68-452D-8DA8-750106AE8922}" dt="2026-07-09T07:57:31.251" v="18" actId="1076"/>
          <ac:spMkLst>
            <pc:docMk/>
            <pc:sldMk cId="2093744687" sldId="266"/>
            <ac:spMk id="11" creationId="{767A73FC-6A9C-0100-717F-1B85FE99CB9B}"/>
          </ac:spMkLst>
        </pc:spChg>
        <pc:spChg chg="add mod">
          <ac:chgData name="diyasheokand538@outlook.com" userId="4616f889652fc039" providerId="LiveId" clId="{2642A41F-FD68-452D-8DA8-750106AE8922}" dt="2026-07-09T07:58:00.522" v="20" actId="1076"/>
          <ac:spMkLst>
            <pc:docMk/>
            <pc:sldMk cId="2093744687" sldId="266"/>
            <ac:spMk id="13" creationId="{2916202B-5E47-F877-3EB9-6EE3EFE70F61}"/>
          </ac:spMkLst>
        </pc:spChg>
        <pc:spChg chg="add mod">
          <ac:chgData name="diyasheokand538@outlook.com" userId="4616f889652fc039" providerId="LiveId" clId="{2642A41F-FD68-452D-8DA8-750106AE8922}" dt="2026-07-09T07:58:25.458" v="22" actId="1076"/>
          <ac:spMkLst>
            <pc:docMk/>
            <pc:sldMk cId="2093744687" sldId="266"/>
            <ac:spMk id="15" creationId="{20A2FFA2-3C0F-081F-7D2C-22D4897A2C09}"/>
          </ac:spMkLst>
        </pc:spChg>
        <pc:spChg chg="add mod">
          <ac:chgData name="diyasheokand538@outlook.com" userId="4616f889652fc039" providerId="LiveId" clId="{2642A41F-FD68-452D-8DA8-750106AE8922}" dt="2026-07-09T07:58:55.508" v="25" actId="1076"/>
          <ac:spMkLst>
            <pc:docMk/>
            <pc:sldMk cId="2093744687" sldId="266"/>
            <ac:spMk id="17" creationId="{A01BE662-B733-5AAC-1855-DD3F372500BA}"/>
          </ac:spMkLst>
        </pc:spChg>
        <pc:spChg chg="add mod">
          <ac:chgData name="diyasheokand538@outlook.com" userId="4616f889652fc039" providerId="LiveId" clId="{2642A41F-FD68-452D-8DA8-750106AE8922}" dt="2026-07-09T07:59:23.825" v="27" actId="1076"/>
          <ac:spMkLst>
            <pc:docMk/>
            <pc:sldMk cId="2093744687" sldId="266"/>
            <ac:spMk id="19" creationId="{BF6821B0-117F-7E4A-3AAA-850ED7EF4898}"/>
          </ac:spMkLst>
        </pc:spChg>
        <pc:spChg chg="add mod">
          <ac:chgData name="diyasheokand538@outlook.com" userId="4616f889652fc039" providerId="LiveId" clId="{2642A41F-FD68-452D-8DA8-750106AE8922}" dt="2026-07-09T07:59:44.864" v="29" actId="1076"/>
          <ac:spMkLst>
            <pc:docMk/>
            <pc:sldMk cId="2093744687" sldId="266"/>
            <ac:spMk id="21" creationId="{49BB5C02-0A3B-FC6C-5E54-DCFF210EBC37}"/>
          </ac:spMkLst>
        </pc:spChg>
        <pc:spChg chg="add mod">
          <ac:chgData name="diyasheokand538@outlook.com" userId="4616f889652fc039" providerId="LiveId" clId="{2642A41F-FD68-452D-8DA8-750106AE8922}" dt="2026-07-09T08:00:22.302" v="31" actId="1076"/>
          <ac:spMkLst>
            <pc:docMk/>
            <pc:sldMk cId="2093744687" sldId="266"/>
            <ac:spMk id="23" creationId="{F7A3D07E-B926-8997-6CA3-E820025FF1C0}"/>
          </ac:spMkLst>
        </pc:spChg>
        <pc:spChg chg="add mod">
          <ac:chgData name="diyasheokand538@outlook.com" userId="4616f889652fc039" providerId="LiveId" clId="{2642A41F-FD68-452D-8DA8-750106AE8922}" dt="2026-07-09T08:00:41.314" v="33" actId="1076"/>
          <ac:spMkLst>
            <pc:docMk/>
            <pc:sldMk cId="2093744687" sldId="266"/>
            <ac:spMk id="25" creationId="{1C0C4709-AD51-3C22-3B05-1F69BF6E194D}"/>
          </ac:spMkLst>
        </pc:spChg>
        <pc:picChg chg="add mod">
          <ac:chgData name="diyasheokand538@outlook.com" userId="4616f889652fc039" providerId="LiveId" clId="{2642A41F-FD68-452D-8DA8-750106AE8922}" dt="2026-07-09T07:54:26.387" v="4" actId="1076"/>
          <ac:picMkLst>
            <pc:docMk/>
            <pc:sldMk cId="2093744687" sldId="266"/>
            <ac:picMk id="3" creationId="{6C358F9B-FCF1-B9C1-0AC1-E4B560127A9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1801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ECE4"/>
          </a:solidFill>
          <a:ln/>
        </p:spPr>
      </p:sp>
      <p:sp>
        <p:nvSpPr>
          <p:cNvPr id="3" name="Shape 1"/>
          <p:cNvSpPr/>
          <p:nvPr/>
        </p:nvSpPr>
        <p:spPr>
          <a:xfrm>
            <a:off x="0" y="0"/>
            <a:ext cx="9144000" cy="5143500"/>
          </a:xfrm>
          <a:prstGeom prst="rect">
            <a:avLst/>
          </a:prstGeom>
          <a:solidFill>
            <a:srgbClr val="F8ECE4"/>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hyperlink" Target="http://B.Sc"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176561"/>
            <a:ext cx="4722763" cy="2214935"/>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151617"/>
                </a:solidFill>
                <a:latin typeface="Montserrat Black" pitchFamily="34" charset="0"/>
                <a:ea typeface="Montserrat Black" pitchFamily="34" charset="-122"/>
                <a:cs typeface="Montserrat Black" pitchFamily="34" charset="-120"/>
              </a:rPr>
              <a:t>HomeValue AI: Intelligent House Price Prediction Using Artificial Intelligence and Python</a:t>
            </a:r>
            <a:endParaRPr lang="en-US" sz="2750" dirty="0"/>
          </a:p>
        </p:txBody>
      </p:sp>
      <p:sp>
        <p:nvSpPr>
          <p:cNvPr id="4" name="Text 1"/>
          <p:cNvSpPr/>
          <p:nvPr/>
        </p:nvSpPr>
        <p:spPr>
          <a:xfrm>
            <a:off x="496119" y="3604096"/>
            <a:ext cx="4722763" cy="362843"/>
          </a:xfrm>
          <a:prstGeom prst="rect">
            <a:avLst/>
          </a:prstGeom>
          <a:noFill/>
          <a:ln/>
        </p:spPr>
        <p:txBody>
          <a:bodyPr wrap="square" lIns="0" tIns="0" rIns="0" bIns="0" rtlCol="0" anchor="t">
            <a:normAutofit/>
          </a:bodyPr>
          <a:lstStyle/>
          <a:p>
            <a:pPr marL="0" indent="0" algn="l">
              <a:lnSpc>
                <a:spcPct val="133000"/>
              </a:lnSpc>
              <a:buNone/>
            </a:pPr>
            <a:r>
              <a:rPr lang="en-US" sz="850" dirty="0">
                <a:solidFill>
                  <a:srgbClr val="151617"/>
                </a:solidFill>
                <a:latin typeface="Inconsolata" pitchFamily="34" charset="0"/>
                <a:ea typeface="Inconsolata" pitchFamily="34" charset="-122"/>
                <a:cs typeface="Inconsolata" pitchFamily="34" charset="-120"/>
              </a:rPr>
              <a:t>Machine Learning-Based Real Estate Price Prediction System — internship project presentation</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751136"/>
            <a:ext cx="4722763" cy="354360"/>
          </a:xfrm>
          <a:prstGeom prst="rect">
            <a:avLst/>
          </a:prstGeom>
          <a:noFill/>
          <a:ln/>
        </p:spPr>
        <p:txBody>
          <a:bodyPr wrap="none" lIns="0" tIns="0" rIns="0" bIns="0" rtlCol="0" anchor="t"/>
          <a:lstStyle/>
          <a:p>
            <a:pPr marL="0" indent="0" algn="l">
              <a:lnSpc>
                <a:spcPct val="104000"/>
              </a:lnSpc>
              <a:buNone/>
            </a:pPr>
            <a:r>
              <a:rPr lang="en-US" sz="2200" dirty="0">
                <a:solidFill>
                  <a:srgbClr val="151617"/>
                </a:solidFill>
                <a:latin typeface="Montserrat Black" pitchFamily="34" charset="0"/>
                <a:ea typeface="Montserrat Black" pitchFamily="34" charset="-122"/>
                <a:cs typeface="Montserrat Black" pitchFamily="34" charset="-120"/>
              </a:rPr>
              <a:t>Introduction</a:t>
            </a:r>
            <a:endParaRPr lang="en-US" sz="220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1318096"/>
            <a:ext cx="354360" cy="354360"/>
          </a:xfrm>
          <a:prstGeom prst="rect">
            <a:avLst/>
          </a:prstGeom>
        </p:spPr>
      </p:pic>
      <p:sp>
        <p:nvSpPr>
          <p:cNvPr id="5" name="Text 1"/>
          <p:cNvSpPr/>
          <p:nvPr/>
        </p:nvSpPr>
        <p:spPr>
          <a:xfrm>
            <a:off x="1027658" y="1318096"/>
            <a:ext cx="4191223" cy="221456"/>
          </a:xfrm>
          <a:prstGeom prst="rect">
            <a:avLst/>
          </a:prstGeom>
          <a:noFill/>
          <a:ln/>
        </p:spPr>
        <p:txBody>
          <a:bodyPr wrap="none" lIns="0" tIns="0" rIns="0" bIns="0" rtlCol="0" anchor="t"/>
          <a:lstStyle/>
          <a:p>
            <a:pPr marL="0" indent="0" algn="l">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What is House Price Prediction?</a:t>
            </a:r>
            <a:endParaRPr lang="en-US" sz="1350" dirty="0"/>
          </a:p>
        </p:txBody>
      </p:sp>
      <p:sp>
        <p:nvSpPr>
          <p:cNvPr id="6" name="Text 2"/>
          <p:cNvSpPr/>
          <p:nvPr/>
        </p:nvSpPr>
        <p:spPr>
          <a:xfrm>
            <a:off x="1027658" y="1624608"/>
            <a:ext cx="419122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51617"/>
                </a:solidFill>
                <a:latin typeface="Inconsolata" pitchFamily="34" charset="0"/>
                <a:ea typeface="Inconsolata" pitchFamily="34" charset="-122"/>
                <a:cs typeface="Inconsolata" pitchFamily="34" charset="-120"/>
              </a:rPr>
              <a:t>Using historical property data and algorithms to estimate market values for residential properties.</a:t>
            </a:r>
            <a:endParaRPr lang="en-US" sz="110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2361754"/>
            <a:ext cx="354360" cy="354360"/>
          </a:xfrm>
          <a:prstGeom prst="rect">
            <a:avLst/>
          </a:prstGeom>
        </p:spPr>
      </p:pic>
      <p:sp>
        <p:nvSpPr>
          <p:cNvPr id="8" name="Text 3"/>
          <p:cNvSpPr/>
          <p:nvPr/>
        </p:nvSpPr>
        <p:spPr>
          <a:xfrm>
            <a:off x="1027658" y="2361754"/>
            <a:ext cx="4191223" cy="221456"/>
          </a:xfrm>
          <a:prstGeom prst="rect">
            <a:avLst/>
          </a:prstGeom>
          <a:noFill/>
          <a:ln/>
        </p:spPr>
        <p:txBody>
          <a:bodyPr wrap="none" lIns="0" tIns="0" rIns="0" bIns="0" rtlCol="0" anchor="t"/>
          <a:lstStyle/>
          <a:p>
            <a:pPr marL="0" indent="0" algn="l">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Why it matters</a:t>
            </a:r>
            <a:endParaRPr lang="en-US" sz="1350" dirty="0"/>
          </a:p>
        </p:txBody>
      </p:sp>
      <p:sp>
        <p:nvSpPr>
          <p:cNvPr id="9" name="Text 4"/>
          <p:cNvSpPr/>
          <p:nvPr/>
        </p:nvSpPr>
        <p:spPr>
          <a:xfrm>
            <a:off x="1027658" y="2668265"/>
            <a:ext cx="419122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51617"/>
                </a:solidFill>
                <a:latin typeface="Inconsolata" pitchFamily="34" charset="0"/>
                <a:ea typeface="Inconsolata" pitchFamily="34" charset="-122"/>
                <a:cs typeface="Inconsolata" pitchFamily="34" charset="-120"/>
              </a:rPr>
              <a:t>Improves valuation speed, reduces bias, and supports fair pricing for buyers, sellers and lenders.</a:t>
            </a:r>
            <a:endParaRPr lang="en-US" sz="110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6119" y="3405411"/>
            <a:ext cx="354360" cy="354360"/>
          </a:xfrm>
          <a:prstGeom prst="rect">
            <a:avLst/>
          </a:prstGeom>
        </p:spPr>
      </p:pic>
      <p:sp>
        <p:nvSpPr>
          <p:cNvPr id="11" name="Text 5"/>
          <p:cNvSpPr/>
          <p:nvPr/>
        </p:nvSpPr>
        <p:spPr>
          <a:xfrm>
            <a:off x="1027658" y="3405411"/>
            <a:ext cx="4191223" cy="221456"/>
          </a:xfrm>
          <a:prstGeom prst="rect">
            <a:avLst/>
          </a:prstGeom>
          <a:noFill/>
          <a:ln/>
        </p:spPr>
        <p:txBody>
          <a:bodyPr wrap="none" lIns="0" tIns="0" rIns="0" bIns="0" rtlCol="0" anchor="t"/>
          <a:lstStyle/>
          <a:p>
            <a:pPr marL="0" indent="0" algn="l">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Role of AI / ML</a:t>
            </a:r>
            <a:endParaRPr lang="en-US" sz="1350" dirty="0"/>
          </a:p>
        </p:txBody>
      </p:sp>
      <p:sp>
        <p:nvSpPr>
          <p:cNvPr id="12" name="Text 6"/>
          <p:cNvSpPr/>
          <p:nvPr/>
        </p:nvSpPr>
        <p:spPr>
          <a:xfrm>
            <a:off x="1027658" y="3711922"/>
            <a:ext cx="4191223"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51617"/>
                </a:solidFill>
                <a:latin typeface="Inconsolata" pitchFamily="34" charset="0"/>
                <a:ea typeface="Inconsolata" pitchFamily="34" charset="-122"/>
                <a:cs typeface="Inconsolata" pitchFamily="34" charset="-120"/>
              </a:rPr>
              <a:t>Machine learning discovers complex relationships between features to improve predictive accuracy over manual methods.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738783"/>
            <a:ext cx="4722763" cy="708720"/>
          </a:xfrm>
          <a:prstGeom prst="rect">
            <a:avLst/>
          </a:prstGeom>
          <a:noFill/>
          <a:ln/>
        </p:spPr>
        <p:txBody>
          <a:bodyPr wrap="square" lIns="0" tIns="0" rIns="0" bIns="0" rtlCol="0" anchor="t">
            <a:normAutofit/>
          </a:bodyPr>
          <a:lstStyle/>
          <a:p>
            <a:pPr marL="0" indent="0" algn="l">
              <a:lnSpc>
                <a:spcPct val="104000"/>
              </a:lnSpc>
              <a:buNone/>
            </a:pPr>
            <a:r>
              <a:rPr lang="en-US" sz="2200" dirty="0">
                <a:solidFill>
                  <a:srgbClr val="151617"/>
                </a:solidFill>
                <a:latin typeface="Montserrat Black" pitchFamily="34" charset="0"/>
                <a:ea typeface="Montserrat Black" pitchFamily="34" charset="-122"/>
                <a:cs typeface="Montserrat Black" pitchFamily="34" charset="-120"/>
              </a:rPr>
              <a:t>Problem Statement &amp; Objectives</a:t>
            </a:r>
            <a:endParaRPr lang="en-US" sz="2200" dirty="0"/>
          </a:p>
        </p:txBody>
      </p:sp>
      <p:sp>
        <p:nvSpPr>
          <p:cNvPr id="4" name="Text 1"/>
          <p:cNvSpPr/>
          <p:nvPr/>
        </p:nvSpPr>
        <p:spPr>
          <a:xfrm>
            <a:off x="496119" y="1801862"/>
            <a:ext cx="2188443" cy="221456"/>
          </a:xfrm>
          <a:prstGeom prst="rect">
            <a:avLst/>
          </a:prstGeom>
          <a:noFill/>
          <a:ln/>
        </p:spPr>
        <p:txBody>
          <a:bodyPr wrap="none" lIns="0" tIns="0" rIns="0" bIns="0" rtlCol="0" anchor="t"/>
          <a:lstStyle/>
          <a:p>
            <a:pPr marL="0" indent="0" algn="l">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Problem Statement</a:t>
            </a:r>
            <a:endParaRPr lang="en-US" sz="1350" dirty="0"/>
          </a:p>
        </p:txBody>
      </p:sp>
      <p:sp>
        <p:nvSpPr>
          <p:cNvPr id="5" name="Text 2"/>
          <p:cNvSpPr/>
          <p:nvPr/>
        </p:nvSpPr>
        <p:spPr>
          <a:xfrm>
            <a:off x="496119" y="2165077"/>
            <a:ext cx="2188443" cy="2140446"/>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151617"/>
                </a:solidFill>
                <a:latin typeface="Inconsolata" pitchFamily="34" charset="0"/>
                <a:ea typeface="Inconsolata" pitchFamily="34" charset="-122"/>
                <a:cs typeface="Inconsolata" pitchFamily="34" charset="-120"/>
              </a:rPr>
              <a:t>Manual property valuation is time-consuming and inconsistent.</a:t>
            </a:r>
            <a:endParaRPr lang="en-US" sz="1100" dirty="0"/>
          </a:p>
          <a:p>
            <a:pPr marL="223520" indent="-223520" algn="l">
              <a:lnSpc>
                <a:spcPct val="133000"/>
              </a:lnSpc>
              <a:buSzPct val="100000"/>
              <a:buChar char="•"/>
            </a:pPr>
            <a:r>
              <a:rPr lang="en-US" sz="1100" dirty="0">
                <a:solidFill>
                  <a:srgbClr val="151617"/>
                </a:solidFill>
                <a:latin typeface="Inconsolata" pitchFamily="34" charset="0"/>
                <a:ea typeface="Inconsolata" pitchFamily="34" charset="-122"/>
                <a:cs typeface="Inconsolata" pitchFamily="34" charset="-120"/>
              </a:rPr>
              <a:t>Prices depend on multiple interacting features (area, rooms, location).</a:t>
            </a:r>
            <a:endParaRPr lang="en-US" sz="1100" dirty="0"/>
          </a:p>
          <a:p>
            <a:pPr marL="223520" indent="-223520" algn="l">
              <a:lnSpc>
                <a:spcPct val="133000"/>
              </a:lnSpc>
              <a:buSzPct val="100000"/>
              <a:buChar char="•"/>
            </a:pPr>
            <a:r>
              <a:rPr lang="en-US" sz="1100" dirty="0">
                <a:solidFill>
                  <a:srgbClr val="151617"/>
                </a:solidFill>
                <a:latin typeface="Inconsolata" pitchFamily="34" charset="0"/>
                <a:ea typeface="Inconsolata" pitchFamily="34" charset="-122"/>
                <a:cs typeface="Inconsolata" pitchFamily="34" charset="-120"/>
              </a:rPr>
              <a:t>Human estimates risk bias and inaccuracies under market volatility.</a:t>
            </a:r>
            <a:endParaRPr lang="en-US" sz="1100" dirty="0"/>
          </a:p>
        </p:txBody>
      </p:sp>
      <p:sp>
        <p:nvSpPr>
          <p:cNvPr id="6" name="Text 3"/>
          <p:cNvSpPr/>
          <p:nvPr/>
        </p:nvSpPr>
        <p:spPr>
          <a:xfrm>
            <a:off x="3035201" y="1801862"/>
            <a:ext cx="2188443" cy="221456"/>
          </a:xfrm>
          <a:prstGeom prst="rect">
            <a:avLst/>
          </a:prstGeom>
          <a:noFill/>
          <a:ln/>
        </p:spPr>
        <p:txBody>
          <a:bodyPr wrap="none" lIns="0" tIns="0" rIns="0" bIns="0" rtlCol="0" anchor="t"/>
          <a:lstStyle/>
          <a:p>
            <a:pPr marL="0" indent="0" algn="l">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Project Objectives</a:t>
            </a:r>
            <a:endParaRPr lang="en-US" sz="1350" dirty="0"/>
          </a:p>
        </p:txBody>
      </p:sp>
      <p:sp>
        <p:nvSpPr>
          <p:cNvPr id="7" name="Text 4"/>
          <p:cNvSpPr/>
          <p:nvPr/>
        </p:nvSpPr>
        <p:spPr>
          <a:xfrm>
            <a:off x="3035201" y="2165077"/>
            <a:ext cx="2188443" cy="2190006"/>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151617"/>
                </a:solidFill>
                <a:latin typeface="Inconsolata" pitchFamily="34" charset="0"/>
                <a:ea typeface="Inconsolata" pitchFamily="34" charset="-122"/>
                <a:cs typeface="Inconsolata" pitchFamily="34" charset="-120"/>
              </a:rPr>
              <a:t>Predict house prices accurately using ML models.</a:t>
            </a:r>
            <a:endParaRPr lang="en-US" sz="1100" dirty="0"/>
          </a:p>
          <a:p>
            <a:pPr marL="223520" indent="-223520" algn="l">
              <a:lnSpc>
                <a:spcPct val="133000"/>
              </a:lnSpc>
              <a:buSzPct val="100000"/>
              <a:buChar char="•"/>
            </a:pPr>
            <a:r>
              <a:rPr lang="en-US" sz="1100" dirty="0">
                <a:solidFill>
                  <a:srgbClr val="151617"/>
                </a:solidFill>
                <a:latin typeface="Inconsolata" pitchFamily="34" charset="0"/>
                <a:ea typeface="Inconsolata" pitchFamily="34" charset="-122"/>
                <a:cs typeface="Inconsolata" pitchFamily="34" charset="-120"/>
              </a:rPr>
              <a:t>Automate valuations to reduce manual effort.</a:t>
            </a:r>
            <a:endParaRPr lang="en-US" sz="1100" dirty="0"/>
          </a:p>
          <a:p>
            <a:pPr marL="223520" indent="-223520" algn="l">
              <a:lnSpc>
                <a:spcPct val="133000"/>
              </a:lnSpc>
              <a:buSzPct val="100000"/>
              <a:buChar char="•"/>
            </a:pPr>
            <a:r>
              <a:rPr lang="en-US" sz="1100" dirty="0">
                <a:solidFill>
                  <a:srgbClr val="151617"/>
                </a:solidFill>
                <a:latin typeface="Inconsolata" pitchFamily="34" charset="0"/>
                <a:ea typeface="Inconsolata" pitchFamily="34" charset="-122"/>
                <a:cs typeface="Inconsolata" pitchFamily="34" charset="-120"/>
              </a:rPr>
              <a:t>Provide actionable insights for buyers, sellers, and agents.</a:t>
            </a:r>
            <a:endParaRPr lang="en-US" sz="1100" dirty="0"/>
          </a:p>
          <a:p>
            <a:pPr marL="223520" indent="-223520" algn="l">
              <a:lnSpc>
                <a:spcPct val="133000"/>
              </a:lnSpc>
              <a:buSzPct val="100000"/>
              <a:buChar char="•"/>
            </a:pPr>
            <a:r>
              <a:rPr lang="en-US" sz="1100" dirty="0">
                <a:solidFill>
                  <a:srgbClr val="151617"/>
                </a:solidFill>
                <a:latin typeface="Inconsolata" pitchFamily="34" charset="0"/>
                <a:ea typeface="Inconsolata" pitchFamily="34" charset="-122"/>
                <a:cs typeface="Inconsolata" pitchFamily="34" charset="-120"/>
              </a:rPr>
              <a:t>Improve decision-making with explainable outputs.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402134"/>
            <a:ext cx="8151763" cy="337840"/>
          </a:xfrm>
          <a:prstGeom prst="rect">
            <a:avLst/>
          </a:prstGeom>
          <a:noFill/>
          <a:ln/>
        </p:spPr>
        <p:txBody>
          <a:bodyPr wrap="none" lIns="0" tIns="0" rIns="0" bIns="0" rtlCol="0" anchor="t"/>
          <a:lstStyle/>
          <a:p>
            <a:pPr marL="0" indent="0" algn="l">
              <a:lnSpc>
                <a:spcPct val="104000"/>
              </a:lnSpc>
              <a:buNone/>
            </a:pPr>
            <a:r>
              <a:rPr lang="en-US" sz="2100" dirty="0">
                <a:solidFill>
                  <a:srgbClr val="151617"/>
                </a:solidFill>
                <a:latin typeface="Montserrat Black" pitchFamily="34" charset="0"/>
                <a:ea typeface="Montserrat Black" pitchFamily="34" charset="-122"/>
                <a:cs typeface="Montserrat Black" pitchFamily="34" charset="-120"/>
              </a:rPr>
              <a:t>Technologies &amp; Dataset</a:t>
            </a:r>
            <a:endParaRPr lang="en-US" sz="2100" dirty="0"/>
          </a:p>
        </p:txBody>
      </p:sp>
      <p:pic>
        <p:nvPicPr>
          <p:cNvPr id="3" name="Image 0" descr="preencoded.png"/>
          <p:cNvPicPr>
            <a:picLocks noChangeAspect="1"/>
          </p:cNvPicPr>
          <p:nvPr/>
        </p:nvPicPr>
        <p:blipFill>
          <a:blip r:embed="rId3"/>
          <a:stretch>
            <a:fillRect/>
          </a:stretch>
        </p:blipFill>
        <p:spPr>
          <a:xfrm>
            <a:off x="496119" y="997521"/>
            <a:ext cx="555947" cy="343570"/>
          </a:xfrm>
          <a:prstGeom prst="rect">
            <a:avLst/>
          </a:prstGeom>
        </p:spPr>
      </p:pic>
      <p:sp>
        <p:nvSpPr>
          <p:cNvPr id="4" name="Text 1"/>
          <p:cNvSpPr/>
          <p:nvPr/>
        </p:nvSpPr>
        <p:spPr>
          <a:xfrm>
            <a:off x="1213024" y="997521"/>
            <a:ext cx="1200299" cy="211113"/>
          </a:xfrm>
          <a:prstGeom prst="rect">
            <a:avLst/>
          </a:prstGeom>
          <a:noFill/>
          <a:ln/>
        </p:spPr>
        <p:txBody>
          <a:bodyPr wrap="none" lIns="0" tIns="0" rIns="0" bIns="0" rtlCol="0" anchor="t"/>
          <a:lstStyle/>
          <a:p>
            <a:pPr marL="0" indent="0" algn="l">
              <a:lnSpc>
                <a:spcPct val="104000"/>
              </a:lnSpc>
              <a:buNone/>
            </a:pPr>
            <a:r>
              <a:rPr lang="en-US" sz="1300" dirty="0">
                <a:solidFill>
                  <a:srgbClr val="151617"/>
                </a:solidFill>
                <a:latin typeface="Montserrat Black" pitchFamily="34" charset="0"/>
                <a:ea typeface="Montserrat Black" pitchFamily="34" charset="-122"/>
                <a:cs typeface="Montserrat Black" pitchFamily="34" charset="-120"/>
              </a:rPr>
              <a:t>Python</a:t>
            </a:r>
            <a:endParaRPr lang="en-US" sz="1300" dirty="0"/>
          </a:p>
        </p:txBody>
      </p:sp>
      <p:sp>
        <p:nvSpPr>
          <p:cNvPr id="5" name="Text 2"/>
          <p:cNvSpPr/>
          <p:nvPr/>
        </p:nvSpPr>
        <p:spPr>
          <a:xfrm>
            <a:off x="1213024" y="1285875"/>
            <a:ext cx="1200299" cy="1055563"/>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151617"/>
                </a:solidFill>
                <a:latin typeface="Inconsolata" pitchFamily="34" charset="0"/>
                <a:ea typeface="Inconsolata" pitchFamily="34" charset="-122"/>
                <a:cs typeface="Inconsolata" pitchFamily="34" charset="-120"/>
              </a:rPr>
              <a:t>Primary development language for data processing and modelling.</a:t>
            </a:r>
            <a:endParaRPr lang="en-US" sz="1050" dirty="0"/>
          </a:p>
        </p:txBody>
      </p:sp>
      <p:pic>
        <p:nvPicPr>
          <p:cNvPr id="6" name="Image 1" descr="preencoded.png"/>
          <p:cNvPicPr>
            <a:picLocks noChangeAspect="1"/>
          </p:cNvPicPr>
          <p:nvPr/>
        </p:nvPicPr>
        <p:blipFill>
          <a:blip r:embed="rId4"/>
          <a:stretch>
            <a:fillRect/>
          </a:stretch>
        </p:blipFill>
        <p:spPr>
          <a:xfrm>
            <a:off x="2574280" y="997521"/>
            <a:ext cx="555947" cy="343570"/>
          </a:xfrm>
          <a:prstGeom prst="rect">
            <a:avLst/>
          </a:prstGeom>
        </p:spPr>
      </p:pic>
      <p:sp>
        <p:nvSpPr>
          <p:cNvPr id="7" name="Text 3"/>
          <p:cNvSpPr/>
          <p:nvPr/>
        </p:nvSpPr>
        <p:spPr>
          <a:xfrm>
            <a:off x="3291185" y="997521"/>
            <a:ext cx="1200299" cy="422225"/>
          </a:xfrm>
          <a:prstGeom prst="rect">
            <a:avLst/>
          </a:prstGeom>
          <a:noFill/>
          <a:ln/>
        </p:spPr>
        <p:txBody>
          <a:bodyPr wrap="square" lIns="0" tIns="0" rIns="0" bIns="0" rtlCol="0" anchor="t">
            <a:normAutofit/>
          </a:bodyPr>
          <a:lstStyle/>
          <a:p>
            <a:pPr marL="0" indent="0" algn="l">
              <a:lnSpc>
                <a:spcPct val="104000"/>
              </a:lnSpc>
              <a:buNone/>
            </a:pPr>
            <a:r>
              <a:rPr lang="en-US" sz="1300" dirty="0">
                <a:solidFill>
                  <a:srgbClr val="151617"/>
                </a:solidFill>
                <a:latin typeface="Montserrat Black" pitchFamily="34" charset="0"/>
                <a:ea typeface="Montserrat Black" pitchFamily="34" charset="-122"/>
                <a:cs typeface="Montserrat Black" pitchFamily="34" charset="-120"/>
              </a:rPr>
              <a:t>Pandas &amp; NumPy</a:t>
            </a:r>
            <a:endParaRPr lang="en-US" sz="1300" dirty="0"/>
          </a:p>
        </p:txBody>
      </p:sp>
      <p:sp>
        <p:nvSpPr>
          <p:cNvPr id="8" name="Text 4"/>
          <p:cNvSpPr/>
          <p:nvPr/>
        </p:nvSpPr>
        <p:spPr>
          <a:xfrm>
            <a:off x="3291185" y="1496988"/>
            <a:ext cx="1200299" cy="1055563"/>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151617"/>
                </a:solidFill>
                <a:latin typeface="Inconsolata" pitchFamily="34" charset="0"/>
                <a:ea typeface="Inconsolata" pitchFamily="34" charset="-122"/>
                <a:cs typeface="Inconsolata" pitchFamily="34" charset="-120"/>
              </a:rPr>
              <a:t>Data wrangling, numerical operations and feature engineering.</a:t>
            </a:r>
            <a:endParaRPr lang="en-US" sz="1050" dirty="0"/>
          </a:p>
        </p:txBody>
      </p:sp>
      <p:pic>
        <p:nvPicPr>
          <p:cNvPr id="9" name="Image 2" descr="preencoded.png"/>
          <p:cNvPicPr>
            <a:picLocks noChangeAspect="1"/>
          </p:cNvPicPr>
          <p:nvPr/>
        </p:nvPicPr>
        <p:blipFill>
          <a:blip r:embed="rId5"/>
          <a:stretch>
            <a:fillRect/>
          </a:stretch>
        </p:blipFill>
        <p:spPr>
          <a:xfrm>
            <a:off x="4652442" y="997521"/>
            <a:ext cx="555947" cy="343570"/>
          </a:xfrm>
          <a:prstGeom prst="rect">
            <a:avLst/>
          </a:prstGeom>
        </p:spPr>
      </p:pic>
      <p:sp>
        <p:nvSpPr>
          <p:cNvPr id="10" name="Text 5"/>
          <p:cNvSpPr/>
          <p:nvPr/>
        </p:nvSpPr>
        <p:spPr>
          <a:xfrm>
            <a:off x="5369347" y="997521"/>
            <a:ext cx="1200299" cy="211113"/>
          </a:xfrm>
          <a:prstGeom prst="rect">
            <a:avLst/>
          </a:prstGeom>
          <a:noFill/>
          <a:ln/>
        </p:spPr>
        <p:txBody>
          <a:bodyPr wrap="none" lIns="0" tIns="0" rIns="0" bIns="0" rtlCol="0" anchor="t"/>
          <a:lstStyle/>
          <a:p>
            <a:pPr marL="0" indent="0" algn="l">
              <a:lnSpc>
                <a:spcPct val="104000"/>
              </a:lnSpc>
              <a:buNone/>
            </a:pPr>
            <a:r>
              <a:rPr lang="en-US" sz="1300" dirty="0">
                <a:solidFill>
                  <a:srgbClr val="151617"/>
                </a:solidFill>
                <a:latin typeface="Montserrat Black" pitchFamily="34" charset="0"/>
                <a:ea typeface="Montserrat Black" pitchFamily="34" charset="-122"/>
                <a:cs typeface="Montserrat Black" pitchFamily="34" charset="-120"/>
              </a:rPr>
              <a:t>Scikit-learn</a:t>
            </a:r>
            <a:endParaRPr lang="en-US" sz="1300" dirty="0"/>
          </a:p>
        </p:txBody>
      </p:sp>
      <p:sp>
        <p:nvSpPr>
          <p:cNvPr id="11" name="Text 6"/>
          <p:cNvSpPr/>
          <p:nvPr/>
        </p:nvSpPr>
        <p:spPr>
          <a:xfrm>
            <a:off x="5369347" y="1285875"/>
            <a:ext cx="1200299" cy="844451"/>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151617"/>
                </a:solidFill>
                <a:latin typeface="Inconsolata" pitchFamily="34" charset="0"/>
                <a:ea typeface="Inconsolata" pitchFamily="34" charset="-122"/>
                <a:cs typeface="Inconsolata" pitchFamily="34" charset="-120"/>
              </a:rPr>
              <a:t>Model training, evaluation metrics and pipelines.</a:t>
            </a:r>
            <a:endParaRPr lang="en-US" sz="1050" dirty="0"/>
          </a:p>
        </p:txBody>
      </p:sp>
      <p:pic>
        <p:nvPicPr>
          <p:cNvPr id="12" name="Image 3" descr="preencoded.png"/>
          <p:cNvPicPr>
            <a:picLocks noChangeAspect="1"/>
          </p:cNvPicPr>
          <p:nvPr/>
        </p:nvPicPr>
        <p:blipFill>
          <a:blip r:embed="rId6"/>
          <a:stretch>
            <a:fillRect/>
          </a:stretch>
        </p:blipFill>
        <p:spPr>
          <a:xfrm>
            <a:off x="6730603" y="997521"/>
            <a:ext cx="555947" cy="343570"/>
          </a:xfrm>
          <a:prstGeom prst="rect">
            <a:avLst/>
          </a:prstGeom>
        </p:spPr>
      </p:pic>
      <p:sp>
        <p:nvSpPr>
          <p:cNvPr id="13" name="Text 7"/>
          <p:cNvSpPr/>
          <p:nvPr/>
        </p:nvSpPr>
        <p:spPr>
          <a:xfrm>
            <a:off x="7447508" y="997521"/>
            <a:ext cx="1200373" cy="211113"/>
          </a:xfrm>
          <a:prstGeom prst="rect">
            <a:avLst/>
          </a:prstGeom>
          <a:noFill/>
          <a:ln/>
        </p:spPr>
        <p:txBody>
          <a:bodyPr wrap="none" lIns="0" tIns="0" rIns="0" bIns="0" rtlCol="0" anchor="t"/>
          <a:lstStyle/>
          <a:p>
            <a:pPr marL="0" indent="0" algn="l">
              <a:lnSpc>
                <a:spcPct val="104000"/>
              </a:lnSpc>
              <a:buNone/>
            </a:pPr>
            <a:r>
              <a:rPr lang="en-US" sz="1300" dirty="0">
                <a:solidFill>
                  <a:srgbClr val="151617"/>
                </a:solidFill>
                <a:latin typeface="Montserrat Black" pitchFamily="34" charset="0"/>
                <a:ea typeface="Montserrat Black" pitchFamily="34" charset="-122"/>
                <a:cs typeface="Montserrat Black" pitchFamily="34" charset="-120"/>
              </a:rPr>
              <a:t>Matplotlib</a:t>
            </a:r>
            <a:endParaRPr lang="en-US" sz="1300" dirty="0"/>
          </a:p>
        </p:txBody>
      </p:sp>
      <p:sp>
        <p:nvSpPr>
          <p:cNvPr id="14" name="Text 8"/>
          <p:cNvSpPr/>
          <p:nvPr/>
        </p:nvSpPr>
        <p:spPr>
          <a:xfrm>
            <a:off x="7447508" y="1285875"/>
            <a:ext cx="1200373" cy="844451"/>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151617"/>
                </a:solidFill>
                <a:latin typeface="Inconsolata" pitchFamily="34" charset="0"/>
                <a:ea typeface="Inconsolata" pitchFamily="34" charset="-122"/>
                <a:cs typeface="Inconsolata" pitchFamily="34" charset="-120"/>
              </a:rPr>
              <a:t>Visualisation of distributions, residuals and predictions.</a:t>
            </a:r>
            <a:endParaRPr lang="en-US" sz="1050" dirty="0"/>
          </a:p>
        </p:txBody>
      </p:sp>
      <p:pic>
        <p:nvPicPr>
          <p:cNvPr id="15" name="Image 4" descr="preencoded.png"/>
          <p:cNvPicPr>
            <a:picLocks noChangeAspect="1"/>
          </p:cNvPicPr>
          <p:nvPr/>
        </p:nvPicPr>
        <p:blipFill>
          <a:blip r:embed="rId7"/>
          <a:stretch>
            <a:fillRect/>
          </a:stretch>
        </p:blipFill>
        <p:spPr>
          <a:xfrm>
            <a:off x="496119" y="2810098"/>
            <a:ext cx="555947" cy="343570"/>
          </a:xfrm>
          <a:prstGeom prst="rect">
            <a:avLst/>
          </a:prstGeom>
        </p:spPr>
      </p:pic>
      <p:sp>
        <p:nvSpPr>
          <p:cNvPr id="16" name="Text 9"/>
          <p:cNvSpPr/>
          <p:nvPr/>
        </p:nvSpPr>
        <p:spPr>
          <a:xfrm>
            <a:off x="1213024" y="2810098"/>
            <a:ext cx="1200299" cy="211113"/>
          </a:xfrm>
          <a:prstGeom prst="rect">
            <a:avLst/>
          </a:prstGeom>
          <a:noFill/>
          <a:ln/>
        </p:spPr>
        <p:txBody>
          <a:bodyPr wrap="none" lIns="0" tIns="0" rIns="0" bIns="0" rtlCol="0" anchor="t"/>
          <a:lstStyle/>
          <a:p>
            <a:pPr marL="0" indent="0" algn="l">
              <a:lnSpc>
                <a:spcPct val="104000"/>
              </a:lnSpc>
              <a:buNone/>
            </a:pPr>
            <a:r>
              <a:rPr lang="en-US" sz="1300" dirty="0">
                <a:solidFill>
                  <a:srgbClr val="151617"/>
                </a:solidFill>
                <a:latin typeface="Montserrat Black" pitchFamily="34" charset="0"/>
                <a:ea typeface="Montserrat Black" pitchFamily="34" charset="-122"/>
                <a:cs typeface="Montserrat Black" pitchFamily="34" charset="-120"/>
              </a:rPr>
              <a:t>VS Code</a:t>
            </a:r>
            <a:endParaRPr lang="en-US" sz="1300" dirty="0"/>
          </a:p>
        </p:txBody>
      </p:sp>
      <p:sp>
        <p:nvSpPr>
          <p:cNvPr id="17" name="Text 10"/>
          <p:cNvSpPr/>
          <p:nvPr/>
        </p:nvSpPr>
        <p:spPr>
          <a:xfrm>
            <a:off x="1213024" y="3098453"/>
            <a:ext cx="1200299" cy="1055563"/>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151617"/>
                </a:solidFill>
                <a:latin typeface="Inconsolata" pitchFamily="34" charset="0"/>
                <a:ea typeface="Inconsolata" pitchFamily="34" charset="-122"/>
                <a:cs typeface="Inconsolata" pitchFamily="34" charset="-120"/>
              </a:rPr>
              <a:t>Development environment with dark theme chosen for code screenshots.</a:t>
            </a:r>
            <a:endParaRPr lang="en-US" sz="1050" dirty="0"/>
          </a:p>
        </p:txBody>
      </p:sp>
      <p:sp>
        <p:nvSpPr>
          <p:cNvPr id="18" name="Shape 11"/>
          <p:cNvSpPr/>
          <p:nvPr/>
        </p:nvSpPr>
        <p:spPr>
          <a:xfrm>
            <a:off x="496119" y="4332610"/>
            <a:ext cx="8151763" cy="19050"/>
          </a:xfrm>
          <a:prstGeom prst="roundRect">
            <a:avLst>
              <a:gd name="adj" fmla="val 60000"/>
            </a:avLst>
          </a:prstGeom>
          <a:solidFill>
            <a:srgbClr val="151617">
              <a:alpha val="50000"/>
            </a:srgbClr>
          </a:solidFill>
          <a:ln/>
        </p:spPr>
      </p:sp>
      <p:sp>
        <p:nvSpPr>
          <p:cNvPr id="19" name="Text 12"/>
          <p:cNvSpPr/>
          <p:nvPr/>
        </p:nvSpPr>
        <p:spPr>
          <a:xfrm>
            <a:off x="496119" y="4530254"/>
            <a:ext cx="8608963" cy="211113"/>
          </a:xfrm>
          <a:prstGeom prst="rect">
            <a:avLst/>
          </a:prstGeom>
          <a:noFill/>
          <a:ln/>
        </p:spPr>
        <p:txBody>
          <a:bodyPr wrap="none" lIns="0" tIns="0" rIns="0" bIns="0" rtlCol="0" anchor="t"/>
          <a:lstStyle/>
          <a:p>
            <a:pPr marL="0" indent="0" algn="l">
              <a:lnSpc>
                <a:spcPct val="130000"/>
              </a:lnSpc>
              <a:buNone/>
            </a:pPr>
            <a:r>
              <a:rPr lang="en-US" sz="1050" dirty="0">
                <a:solidFill>
                  <a:srgbClr val="151617"/>
                </a:solidFill>
                <a:latin typeface="Inconsolata" pitchFamily="34" charset="0"/>
                <a:ea typeface="Inconsolata" pitchFamily="34" charset="-122"/>
                <a:cs typeface="Inconsolata" pitchFamily="34" charset="-120"/>
              </a:rPr>
              <a:t>Dataset features used: Area (sq ft), Bedrooms, Bathrooms, Stories, Parking, Price (target).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6C358F9B-FCF1-B9C1-0AC1-E4B560127A91}"/>
              </a:ext>
            </a:extLst>
          </p:cNvPr>
          <p:cNvPicPr>
            <a:picLocks noChangeAspect="1"/>
          </p:cNvPicPr>
          <p:nvPr/>
        </p:nvPicPr>
        <p:blipFill>
          <a:blip r:embed="rId2"/>
          <a:stretch>
            <a:fillRect/>
          </a:stretch>
        </p:blipFill>
        <p:spPr>
          <a:xfrm>
            <a:off x="496118" y="988265"/>
            <a:ext cx="8151763" cy="3521125"/>
          </a:xfrm>
          <a:prstGeom prst="rect">
            <a:avLst/>
          </a:prstGeom>
        </p:spPr>
      </p:pic>
      <p:sp>
        <p:nvSpPr>
          <p:cNvPr id="5" name="TextBox 4">
            <a:extLst>
              <a:ext uri="{FF2B5EF4-FFF2-40B4-BE49-F238E27FC236}">
                <a16:creationId xmlns:a16="http://schemas.microsoft.com/office/drawing/2014/main" id="{316A6F1A-2500-9F78-8B61-E0A5BE80143B}"/>
              </a:ext>
            </a:extLst>
          </p:cNvPr>
          <p:cNvSpPr txBox="1"/>
          <p:nvPr/>
        </p:nvSpPr>
        <p:spPr>
          <a:xfrm>
            <a:off x="2286000" y="384629"/>
            <a:ext cx="4390571" cy="352341"/>
          </a:xfrm>
          <a:prstGeom prst="rect">
            <a:avLst/>
          </a:prstGeom>
          <a:noFill/>
        </p:spPr>
        <p:txBody>
          <a:bodyPr wrap="square">
            <a:spAutoFit/>
          </a:bodyPr>
          <a:lstStyle/>
          <a:p>
            <a:pPr marL="0" indent="0" algn="ctr">
              <a:lnSpc>
                <a:spcPct val="104000"/>
              </a:lnSpc>
              <a:buNone/>
            </a:pPr>
            <a:r>
              <a:rPr lang="en-US" sz="1700" b="1" dirty="0">
                <a:solidFill>
                  <a:srgbClr val="443728"/>
                </a:solidFill>
                <a:latin typeface="Crimson Pro Bold" pitchFamily="34" charset="0"/>
                <a:ea typeface="Crimson Pro Bold" pitchFamily="34" charset="-122"/>
                <a:cs typeface="Crimson Pro Bold" pitchFamily="34" charset="-120"/>
              </a:rPr>
              <a:t>Working Methodology</a:t>
            </a:r>
            <a:endParaRPr lang="en-US" sz="1700" dirty="0"/>
          </a:p>
        </p:txBody>
      </p:sp>
      <p:sp>
        <p:nvSpPr>
          <p:cNvPr id="7" name="TextBox 6">
            <a:extLst>
              <a:ext uri="{FF2B5EF4-FFF2-40B4-BE49-F238E27FC236}">
                <a16:creationId xmlns:a16="http://schemas.microsoft.com/office/drawing/2014/main" id="{D0F2ED24-D6DD-6832-DA3A-39BC33B307AC}"/>
              </a:ext>
            </a:extLst>
          </p:cNvPr>
          <p:cNvSpPr txBox="1"/>
          <p:nvPr/>
        </p:nvSpPr>
        <p:spPr>
          <a:xfrm>
            <a:off x="496118" y="1270000"/>
            <a:ext cx="1946818" cy="298800"/>
          </a:xfrm>
          <a:prstGeom prst="rect">
            <a:avLst/>
          </a:prstGeom>
          <a:noFill/>
        </p:spPr>
        <p:txBody>
          <a:bodyPr wrap="square">
            <a:spAutoFit/>
          </a:bodyPr>
          <a:lstStyle/>
          <a:p>
            <a:pPr marL="0" indent="0" algn="ctr">
              <a:lnSpc>
                <a:spcPct val="104000"/>
              </a:lnSpc>
              <a:buNone/>
            </a:pPr>
            <a:r>
              <a:rPr lang="en-US" sz="1350" b="1" dirty="0">
                <a:solidFill>
                  <a:srgbClr val="443728"/>
                </a:solidFill>
                <a:latin typeface="Crimson Pro Bold" pitchFamily="34" charset="0"/>
                <a:ea typeface="Crimson Pro Bold" pitchFamily="34" charset="-122"/>
                <a:cs typeface="Crimson Pro Bold" pitchFamily="34" charset="-120"/>
              </a:rPr>
              <a:t>Collect</a:t>
            </a:r>
            <a:endParaRPr lang="en-US" sz="1350" dirty="0"/>
          </a:p>
        </p:txBody>
      </p:sp>
      <p:sp>
        <p:nvSpPr>
          <p:cNvPr id="9" name="TextBox 8">
            <a:extLst>
              <a:ext uri="{FF2B5EF4-FFF2-40B4-BE49-F238E27FC236}">
                <a16:creationId xmlns:a16="http://schemas.microsoft.com/office/drawing/2014/main" id="{CA343288-439A-2F92-16C4-0183EB15C629}"/>
              </a:ext>
            </a:extLst>
          </p:cNvPr>
          <p:cNvSpPr txBox="1"/>
          <p:nvPr/>
        </p:nvSpPr>
        <p:spPr>
          <a:xfrm>
            <a:off x="-816473" y="1549750"/>
            <a:ext cx="4572000" cy="248081"/>
          </a:xfrm>
          <a:prstGeom prst="rect">
            <a:avLst/>
          </a:prstGeom>
          <a:noFill/>
        </p:spPr>
        <p:txBody>
          <a:bodyPr wrap="square">
            <a:spAutoFit/>
          </a:bodyPr>
          <a:lstStyle/>
          <a:p>
            <a:pPr marL="0" indent="0" algn="ctr">
              <a:lnSpc>
                <a:spcPct val="92000"/>
              </a:lnSpc>
              <a:buNone/>
            </a:pPr>
            <a:r>
              <a:rPr lang="en-US" sz="1100" dirty="0">
                <a:solidFill>
                  <a:srgbClr val="443728"/>
                </a:solidFill>
                <a:latin typeface="Open Sans" pitchFamily="34" charset="0"/>
                <a:ea typeface="Open Sans" pitchFamily="34" charset="-122"/>
                <a:cs typeface="Open Sans" pitchFamily="34" charset="-120"/>
              </a:rPr>
              <a:t>Gather raw data</a:t>
            </a:r>
            <a:endParaRPr lang="en-US" sz="1100" dirty="0"/>
          </a:p>
        </p:txBody>
      </p:sp>
      <p:sp>
        <p:nvSpPr>
          <p:cNvPr id="11" name="TextBox 10">
            <a:extLst>
              <a:ext uri="{FF2B5EF4-FFF2-40B4-BE49-F238E27FC236}">
                <a16:creationId xmlns:a16="http://schemas.microsoft.com/office/drawing/2014/main" id="{767A73FC-6A9C-0100-717F-1B85FE99CB9B}"/>
              </a:ext>
            </a:extLst>
          </p:cNvPr>
          <p:cNvSpPr txBox="1"/>
          <p:nvPr/>
        </p:nvSpPr>
        <p:spPr>
          <a:xfrm>
            <a:off x="589643" y="3873500"/>
            <a:ext cx="4982028" cy="403828"/>
          </a:xfrm>
          <a:prstGeom prst="rect">
            <a:avLst/>
          </a:prstGeom>
          <a:noFill/>
        </p:spPr>
        <p:txBody>
          <a:bodyPr wrap="square">
            <a:spAutoFit/>
          </a:bodyPr>
          <a:lstStyle/>
          <a:p>
            <a:pPr marL="0" indent="0" algn="ctr">
              <a:lnSpc>
                <a:spcPct val="92000"/>
              </a:lnSpc>
              <a:buNone/>
            </a:pPr>
            <a:r>
              <a:rPr lang="en-US" sz="1100" dirty="0">
                <a:solidFill>
                  <a:srgbClr val="443728"/>
                </a:solidFill>
                <a:latin typeface="Open Sans" pitchFamily="34" charset="0"/>
                <a:ea typeface="Open Sans" pitchFamily="34" charset="-122"/>
                <a:cs typeface="Open Sans" pitchFamily="34" charset="-120"/>
              </a:rPr>
              <a:t>Remove errors</a:t>
            </a:r>
          </a:p>
          <a:p>
            <a:pPr marL="0" indent="0" algn="ctr">
              <a:lnSpc>
                <a:spcPct val="92000"/>
              </a:lnSpc>
              <a:buNone/>
            </a:pPr>
            <a:r>
              <a:rPr lang="en-US" sz="1100" dirty="0">
                <a:solidFill>
                  <a:srgbClr val="443728"/>
                </a:solidFill>
                <a:latin typeface="Open Sans" pitchFamily="34" charset="0"/>
                <a:ea typeface="Open Sans" pitchFamily="34" charset="-122"/>
                <a:cs typeface="Open Sans" pitchFamily="34" charset="-120"/>
              </a:rPr>
              <a:t> and noise</a:t>
            </a:r>
            <a:endParaRPr lang="en-US" sz="1100" dirty="0"/>
          </a:p>
        </p:txBody>
      </p:sp>
      <p:sp>
        <p:nvSpPr>
          <p:cNvPr id="13" name="TextBox 12">
            <a:extLst>
              <a:ext uri="{FF2B5EF4-FFF2-40B4-BE49-F238E27FC236}">
                <a16:creationId xmlns:a16="http://schemas.microsoft.com/office/drawing/2014/main" id="{2916202B-5E47-F877-3EB9-6EE3EFE70F61}"/>
              </a:ext>
            </a:extLst>
          </p:cNvPr>
          <p:cNvSpPr txBox="1"/>
          <p:nvPr/>
        </p:nvSpPr>
        <p:spPr>
          <a:xfrm>
            <a:off x="589643" y="3574700"/>
            <a:ext cx="4982028" cy="298800"/>
          </a:xfrm>
          <a:prstGeom prst="rect">
            <a:avLst/>
          </a:prstGeom>
          <a:noFill/>
        </p:spPr>
        <p:txBody>
          <a:bodyPr wrap="square">
            <a:spAutoFit/>
          </a:bodyPr>
          <a:lstStyle/>
          <a:p>
            <a:pPr marL="0" indent="0" algn="ctr">
              <a:lnSpc>
                <a:spcPct val="104000"/>
              </a:lnSpc>
              <a:buNone/>
            </a:pPr>
            <a:r>
              <a:rPr lang="en-US" sz="1350" b="1" dirty="0">
                <a:solidFill>
                  <a:srgbClr val="443728"/>
                </a:solidFill>
                <a:latin typeface="Crimson Pro Bold" pitchFamily="34" charset="0"/>
                <a:ea typeface="Crimson Pro Bold" pitchFamily="34" charset="-122"/>
                <a:cs typeface="Crimson Pro Bold" pitchFamily="34" charset="-120"/>
              </a:rPr>
              <a:t>Clean</a:t>
            </a:r>
            <a:endParaRPr lang="en-US" sz="1350" dirty="0"/>
          </a:p>
        </p:txBody>
      </p:sp>
      <p:sp>
        <p:nvSpPr>
          <p:cNvPr id="15" name="TextBox 14">
            <a:extLst>
              <a:ext uri="{FF2B5EF4-FFF2-40B4-BE49-F238E27FC236}">
                <a16:creationId xmlns:a16="http://schemas.microsoft.com/office/drawing/2014/main" id="{20A2FFA2-3C0F-081F-7D2C-22D4897A2C09}"/>
              </a:ext>
            </a:extLst>
          </p:cNvPr>
          <p:cNvSpPr txBox="1"/>
          <p:nvPr/>
        </p:nvSpPr>
        <p:spPr>
          <a:xfrm>
            <a:off x="2142671" y="1270000"/>
            <a:ext cx="4982028" cy="298800"/>
          </a:xfrm>
          <a:prstGeom prst="rect">
            <a:avLst/>
          </a:prstGeom>
          <a:noFill/>
        </p:spPr>
        <p:txBody>
          <a:bodyPr wrap="square">
            <a:spAutoFit/>
          </a:bodyPr>
          <a:lstStyle/>
          <a:p>
            <a:pPr marL="0" indent="0" algn="ctr">
              <a:lnSpc>
                <a:spcPct val="104000"/>
              </a:lnSpc>
              <a:buNone/>
            </a:pPr>
            <a:r>
              <a:rPr lang="en-US" sz="1350" b="1" dirty="0">
                <a:solidFill>
                  <a:srgbClr val="443728"/>
                </a:solidFill>
                <a:latin typeface="Crimson Pro Bold" pitchFamily="34" charset="0"/>
                <a:ea typeface="Crimson Pro Bold" pitchFamily="34" charset="-122"/>
                <a:cs typeface="Crimson Pro Bold" pitchFamily="34" charset="-120"/>
              </a:rPr>
              <a:t>Select</a:t>
            </a:r>
            <a:endParaRPr lang="en-US" sz="1350" dirty="0"/>
          </a:p>
        </p:txBody>
      </p:sp>
      <p:sp>
        <p:nvSpPr>
          <p:cNvPr id="17" name="TextBox 16">
            <a:extLst>
              <a:ext uri="{FF2B5EF4-FFF2-40B4-BE49-F238E27FC236}">
                <a16:creationId xmlns:a16="http://schemas.microsoft.com/office/drawing/2014/main" id="{A01BE662-B733-5AAC-1855-DD3F372500BA}"/>
              </a:ext>
            </a:extLst>
          </p:cNvPr>
          <p:cNvSpPr txBox="1"/>
          <p:nvPr/>
        </p:nvSpPr>
        <p:spPr>
          <a:xfrm>
            <a:off x="2193471" y="1568800"/>
            <a:ext cx="4982028" cy="403828"/>
          </a:xfrm>
          <a:prstGeom prst="rect">
            <a:avLst/>
          </a:prstGeom>
          <a:noFill/>
        </p:spPr>
        <p:txBody>
          <a:bodyPr wrap="square">
            <a:spAutoFit/>
          </a:bodyPr>
          <a:lstStyle/>
          <a:p>
            <a:pPr marL="0" indent="0" algn="ctr">
              <a:lnSpc>
                <a:spcPct val="92000"/>
              </a:lnSpc>
              <a:buNone/>
            </a:pPr>
            <a:r>
              <a:rPr lang="en-US" sz="1100" dirty="0">
                <a:solidFill>
                  <a:srgbClr val="443728"/>
                </a:solidFill>
                <a:latin typeface="Open Sans" pitchFamily="34" charset="0"/>
                <a:ea typeface="Open Sans" pitchFamily="34" charset="-122"/>
                <a:cs typeface="Open Sans" pitchFamily="34" charset="-120"/>
              </a:rPr>
              <a:t>Choose key </a:t>
            </a:r>
          </a:p>
          <a:p>
            <a:pPr marL="0" indent="0" algn="ctr">
              <a:lnSpc>
                <a:spcPct val="92000"/>
              </a:lnSpc>
              <a:buNone/>
            </a:pPr>
            <a:r>
              <a:rPr lang="en-US" sz="1100" dirty="0">
                <a:solidFill>
                  <a:srgbClr val="443728"/>
                </a:solidFill>
                <a:latin typeface="Open Sans" pitchFamily="34" charset="0"/>
                <a:ea typeface="Open Sans" pitchFamily="34" charset="-122"/>
                <a:cs typeface="Open Sans" pitchFamily="34" charset="-120"/>
              </a:rPr>
              <a:t>features</a:t>
            </a:r>
            <a:endParaRPr lang="en-US" sz="1100" dirty="0"/>
          </a:p>
        </p:txBody>
      </p:sp>
      <p:sp>
        <p:nvSpPr>
          <p:cNvPr id="19" name="TextBox 18">
            <a:extLst>
              <a:ext uri="{FF2B5EF4-FFF2-40B4-BE49-F238E27FC236}">
                <a16:creationId xmlns:a16="http://schemas.microsoft.com/office/drawing/2014/main" id="{BF6821B0-117F-7E4A-3AAA-850ED7EF4898}"/>
              </a:ext>
            </a:extLst>
          </p:cNvPr>
          <p:cNvSpPr txBox="1"/>
          <p:nvPr/>
        </p:nvSpPr>
        <p:spPr>
          <a:xfrm>
            <a:off x="3572329" y="3613707"/>
            <a:ext cx="4982028" cy="298800"/>
          </a:xfrm>
          <a:prstGeom prst="rect">
            <a:avLst/>
          </a:prstGeom>
          <a:noFill/>
        </p:spPr>
        <p:txBody>
          <a:bodyPr wrap="square">
            <a:spAutoFit/>
          </a:bodyPr>
          <a:lstStyle/>
          <a:p>
            <a:pPr marL="0" indent="0" algn="ctr">
              <a:lnSpc>
                <a:spcPct val="104000"/>
              </a:lnSpc>
              <a:buNone/>
            </a:pPr>
            <a:r>
              <a:rPr lang="en-US" sz="1350" b="1" dirty="0">
                <a:solidFill>
                  <a:srgbClr val="443728"/>
                </a:solidFill>
                <a:latin typeface="Crimson Pro Bold" pitchFamily="34" charset="0"/>
                <a:ea typeface="Crimson Pro Bold" pitchFamily="34" charset="-122"/>
                <a:cs typeface="Crimson Pro Bold" pitchFamily="34" charset="-120"/>
              </a:rPr>
              <a:t>Split</a:t>
            </a:r>
            <a:endParaRPr lang="en-US" sz="1350" dirty="0"/>
          </a:p>
        </p:txBody>
      </p:sp>
      <p:sp>
        <p:nvSpPr>
          <p:cNvPr id="21" name="TextBox 20">
            <a:extLst>
              <a:ext uri="{FF2B5EF4-FFF2-40B4-BE49-F238E27FC236}">
                <a16:creationId xmlns:a16="http://schemas.microsoft.com/office/drawing/2014/main" id="{49BB5C02-0A3B-FC6C-5E54-DCFF210EBC37}"/>
              </a:ext>
            </a:extLst>
          </p:cNvPr>
          <p:cNvSpPr txBox="1"/>
          <p:nvPr/>
        </p:nvSpPr>
        <p:spPr>
          <a:xfrm>
            <a:off x="3665853" y="3941693"/>
            <a:ext cx="4982028" cy="248081"/>
          </a:xfrm>
          <a:prstGeom prst="rect">
            <a:avLst/>
          </a:prstGeom>
          <a:noFill/>
        </p:spPr>
        <p:txBody>
          <a:bodyPr wrap="square">
            <a:spAutoFit/>
          </a:bodyPr>
          <a:lstStyle/>
          <a:p>
            <a:pPr marL="0" indent="0" algn="ctr">
              <a:lnSpc>
                <a:spcPct val="92000"/>
              </a:lnSpc>
              <a:buNone/>
            </a:pPr>
            <a:r>
              <a:rPr lang="en-US" sz="1100" dirty="0">
                <a:solidFill>
                  <a:srgbClr val="443728"/>
                </a:solidFill>
                <a:latin typeface="Open Sans" pitchFamily="34" charset="0"/>
                <a:ea typeface="Open Sans" pitchFamily="34" charset="-122"/>
                <a:cs typeface="Open Sans" pitchFamily="34" charset="-120"/>
              </a:rPr>
              <a:t>Train and test sets</a:t>
            </a:r>
            <a:endParaRPr lang="en-US" sz="1100" dirty="0"/>
          </a:p>
        </p:txBody>
      </p:sp>
      <p:sp>
        <p:nvSpPr>
          <p:cNvPr id="23" name="TextBox 22">
            <a:extLst>
              <a:ext uri="{FF2B5EF4-FFF2-40B4-BE49-F238E27FC236}">
                <a16:creationId xmlns:a16="http://schemas.microsoft.com/office/drawing/2014/main" id="{F7A3D07E-B926-8997-6CA3-E820025FF1C0}"/>
              </a:ext>
            </a:extLst>
          </p:cNvPr>
          <p:cNvSpPr txBox="1"/>
          <p:nvPr/>
        </p:nvSpPr>
        <p:spPr>
          <a:xfrm>
            <a:off x="5139872" y="1249184"/>
            <a:ext cx="4982028" cy="298800"/>
          </a:xfrm>
          <a:prstGeom prst="rect">
            <a:avLst/>
          </a:prstGeom>
          <a:noFill/>
        </p:spPr>
        <p:txBody>
          <a:bodyPr wrap="square">
            <a:spAutoFit/>
          </a:bodyPr>
          <a:lstStyle/>
          <a:p>
            <a:pPr marL="0" indent="0" algn="ctr">
              <a:lnSpc>
                <a:spcPct val="104000"/>
              </a:lnSpc>
              <a:buNone/>
            </a:pPr>
            <a:r>
              <a:rPr lang="en-US" sz="1350" b="1" dirty="0">
                <a:solidFill>
                  <a:srgbClr val="443728"/>
                </a:solidFill>
                <a:latin typeface="Crimson Pro Bold" pitchFamily="34" charset="0"/>
                <a:ea typeface="Crimson Pro Bold" pitchFamily="34" charset="-122"/>
                <a:cs typeface="Crimson Pro Bold" pitchFamily="34" charset="-120"/>
              </a:rPr>
              <a:t>Train</a:t>
            </a:r>
            <a:endParaRPr lang="en-US" sz="1350" dirty="0"/>
          </a:p>
        </p:txBody>
      </p:sp>
      <p:sp>
        <p:nvSpPr>
          <p:cNvPr id="25" name="TextBox 24">
            <a:extLst>
              <a:ext uri="{FF2B5EF4-FFF2-40B4-BE49-F238E27FC236}">
                <a16:creationId xmlns:a16="http://schemas.microsoft.com/office/drawing/2014/main" id="{1C0C4709-AD51-3C22-3B05-1F69BF6E194D}"/>
              </a:ext>
            </a:extLst>
          </p:cNvPr>
          <p:cNvSpPr txBox="1"/>
          <p:nvPr/>
        </p:nvSpPr>
        <p:spPr>
          <a:xfrm>
            <a:off x="4894944" y="1529793"/>
            <a:ext cx="5471884" cy="248081"/>
          </a:xfrm>
          <a:prstGeom prst="rect">
            <a:avLst/>
          </a:prstGeom>
          <a:noFill/>
        </p:spPr>
        <p:txBody>
          <a:bodyPr wrap="square">
            <a:spAutoFit/>
          </a:bodyPr>
          <a:lstStyle/>
          <a:p>
            <a:pPr marL="0" indent="0" algn="ctr">
              <a:lnSpc>
                <a:spcPct val="92000"/>
              </a:lnSpc>
              <a:buNone/>
            </a:pPr>
            <a:r>
              <a:rPr lang="en-US" sz="1100" dirty="0">
                <a:solidFill>
                  <a:srgbClr val="443728"/>
                </a:solidFill>
                <a:latin typeface="Open Sans" pitchFamily="34" charset="0"/>
                <a:ea typeface="Open Sans" pitchFamily="34" charset="-122"/>
                <a:cs typeface="Open Sans" pitchFamily="34" charset="-120"/>
              </a:rPr>
              <a:t>Fit models</a:t>
            </a:r>
            <a:endParaRPr lang="en-US" sz="1100" dirty="0"/>
          </a:p>
        </p:txBody>
      </p:sp>
    </p:spTree>
    <p:extLst>
      <p:ext uri="{BB962C8B-B14F-4D97-AF65-F5344CB8AC3E}">
        <p14:creationId xmlns:p14="http://schemas.microsoft.com/office/powerpoint/2010/main" val="2093744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415156"/>
            <a:ext cx="4722763" cy="631180"/>
          </a:xfrm>
          <a:prstGeom prst="rect">
            <a:avLst/>
          </a:prstGeom>
          <a:noFill/>
          <a:ln/>
        </p:spPr>
        <p:txBody>
          <a:bodyPr wrap="square" lIns="0" tIns="0" rIns="0" bIns="0" rtlCol="0" anchor="t">
            <a:normAutofit/>
          </a:bodyPr>
          <a:lstStyle/>
          <a:p>
            <a:pPr marL="0" indent="0" algn="l">
              <a:lnSpc>
                <a:spcPct val="104000"/>
              </a:lnSpc>
              <a:buNone/>
            </a:pPr>
            <a:r>
              <a:rPr lang="en-US" sz="1950" dirty="0">
                <a:solidFill>
                  <a:srgbClr val="151617"/>
                </a:solidFill>
                <a:latin typeface="Montserrat Black" pitchFamily="34" charset="0"/>
                <a:ea typeface="Montserrat Black" pitchFamily="34" charset="-122"/>
                <a:cs typeface="Montserrat Black" pitchFamily="34" charset="-120"/>
              </a:rPr>
              <a:t>Methodology &amp; Key Code Snippets</a:t>
            </a:r>
            <a:endParaRPr lang="en-US" sz="1950" dirty="0"/>
          </a:p>
        </p:txBody>
      </p:sp>
      <p:sp>
        <p:nvSpPr>
          <p:cNvPr id="4" name="Shape 1"/>
          <p:cNvSpPr/>
          <p:nvPr/>
        </p:nvSpPr>
        <p:spPr>
          <a:xfrm>
            <a:off x="496119" y="1214958"/>
            <a:ext cx="1499295" cy="2060525"/>
          </a:xfrm>
          <a:prstGeom prst="roundRect">
            <a:avLst>
              <a:gd name="adj" fmla="val 381"/>
            </a:avLst>
          </a:prstGeom>
          <a:solidFill>
            <a:srgbClr val="F8ECE4"/>
          </a:solidFill>
          <a:ln w="4763">
            <a:solidFill>
              <a:srgbClr val="151617"/>
            </a:solidFill>
            <a:prstDash val="solid"/>
          </a:ln>
          <a:effectLst>
            <a:outerShdw blurRad="101600" dist="16510" dir="2700000" algn="bl" rotWithShape="0">
              <a:srgbClr val="151617">
                <a:alpha val="100000"/>
              </a:srgbClr>
            </a:outerShdw>
          </a:effectLst>
        </p:spPr>
      </p:sp>
      <p:sp>
        <p:nvSpPr>
          <p:cNvPr id="5" name="Text 2"/>
          <p:cNvSpPr/>
          <p:nvPr/>
        </p:nvSpPr>
        <p:spPr>
          <a:xfrm>
            <a:off x="627087" y="1345927"/>
            <a:ext cx="1237357" cy="394543"/>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151617"/>
                </a:solidFill>
                <a:latin typeface="Montserrat Black" pitchFamily="34" charset="0"/>
                <a:ea typeface="Montserrat Black" pitchFamily="34" charset="-122"/>
                <a:cs typeface="Montserrat Black" pitchFamily="34" charset="-120"/>
              </a:rPr>
              <a:t>1. Data Collection</a:t>
            </a:r>
            <a:endParaRPr lang="en-US" sz="1200" dirty="0"/>
          </a:p>
        </p:txBody>
      </p:sp>
      <p:sp>
        <p:nvSpPr>
          <p:cNvPr id="6" name="Text 3"/>
          <p:cNvSpPr/>
          <p:nvPr/>
        </p:nvSpPr>
        <p:spPr>
          <a:xfrm>
            <a:off x="627087" y="1807890"/>
            <a:ext cx="1237357" cy="1145679"/>
          </a:xfrm>
          <a:prstGeom prst="rect">
            <a:avLst/>
          </a:prstGeom>
          <a:noFill/>
          <a:ln/>
        </p:spPr>
        <p:txBody>
          <a:bodyPr wrap="square" lIns="0" tIns="0" rIns="0" bIns="0" rtlCol="0" anchor="t">
            <a:normAutofit/>
          </a:bodyPr>
          <a:lstStyle/>
          <a:p>
            <a:pPr marL="0" indent="0" algn="l">
              <a:lnSpc>
                <a:spcPct val="126000"/>
              </a:lnSpc>
              <a:buNone/>
            </a:pPr>
            <a:r>
              <a:rPr lang="en-US" sz="950" dirty="0">
                <a:solidFill>
                  <a:srgbClr val="151617"/>
                </a:solidFill>
                <a:latin typeface="Inconsolata" pitchFamily="34" charset="0"/>
                <a:ea typeface="Inconsolata" pitchFamily="34" charset="-122"/>
                <a:cs typeface="Inconsolata" pitchFamily="34" charset="-120"/>
              </a:rPr>
              <a:t>Assemble historical sale records and property attributes, verify schema and completeness.</a:t>
            </a:r>
            <a:endParaRPr lang="en-US" sz="950" dirty="0"/>
          </a:p>
        </p:txBody>
      </p:sp>
      <p:sp>
        <p:nvSpPr>
          <p:cNvPr id="7" name="Shape 4"/>
          <p:cNvSpPr/>
          <p:nvPr/>
        </p:nvSpPr>
        <p:spPr>
          <a:xfrm>
            <a:off x="2107853" y="1214958"/>
            <a:ext cx="1499295" cy="2060525"/>
          </a:xfrm>
          <a:prstGeom prst="roundRect">
            <a:avLst>
              <a:gd name="adj" fmla="val 381"/>
            </a:avLst>
          </a:prstGeom>
          <a:solidFill>
            <a:srgbClr val="F8ECE4"/>
          </a:solidFill>
          <a:ln w="4763">
            <a:solidFill>
              <a:srgbClr val="151617"/>
            </a:solidFill>
            <a:prstDash val="solid"/>
          </a:ln>
          <a:effectLst>
            <a:outerShdw blurRad="101600" dist="16510" dir="2700000" algn="bl" rotWithShape="0">
              <a:srgbClr val="151617">
                <a:alpha val="100000"/>
              </a:srgbClr>
            </a:outerShdw>
          </a:effectLst>
        </p:spPr>
      </p:sp>
      <p:sp>
        <p:nvSpPr>
          <p:cNvPr id="8" name="Text 5"/>
          <p:cNvSpPr/>
          <p:nvPr/>
        </p:nvSpPr>
        <p:spPr>
          <a:xfrm>
            <a:off x="2238821" y="1345927"/>
            <a:ext cx="1237357" cy="394543"/>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151617"/>
                </a:solidFill>
                <a:latin typeface="Montserrat Black" pitchFamily="34" charset="0"/>
                <a:ea typeface="Montserrat Black" pitchFamily="34" charset="-122"/>
                <a:cs typeface="Montserrat Black" pitchFamily="34" charset="-120"/>
              </a:rPr>
              <a:t>2. Data Preprocessing</a:t>
            </a:r>
            <a:endParaRPr lang="en-US" sz="1200" dirty="0"/>
          </a:p>
        </p:txBody>
      </p:sp>
      <p:sp>
        <p:nvSpPr>
          <p:cNvPr id="9" name="Text 6"/>
          <p:cNvSpPr/>
          <p:nvPr/>
        </p:nvSpPr>
        <p:spPr>
          <a:xfrm>
            <a:off x="2238821" y="1807890"/>
            <a:ext cx="1237357" cy="1145679"/>
          </a:xfrm>
          <a:prstGeom prst="rect">
            <a:avLst/>
          </a:prstGeom>
          <a:noFill/>
          <a:ln/>
        </p:spPr>
        <p:txBody>
          <a:bodyPr wrap="square" lIns="0" tIns="0" rIns="0" bIns="0" rtlCol="0" anchor="t">
            <a:normAutofit/>
          </a:bodyPr>
          <a:lstStyle/>
          <a:p>
            <a:pPr marL="0" indent="0" algn="l">
              <a:lnSpc>
                <a:spcPct val="126000"/>
              </a:lnSpc>
              <a:buNone/>
            </a:pPr>
            <a:r>
              <a:rPr lang="en-US" sz="950" dirty="0">
                <a:solidFill>
                  <a:srgbClr val="151617"/>
                </a:solidFill>
                <a:latin typeface="Inconsolata" pitchFamily="34" charset="0"/>
                <a:ea typeface="Inconsolata" pitchFamily="34" charset="-122"/>
                <a:cs typeface="Inconsolata" pitchFamily="34" charset="-120"/>
              </a:rPr>
              <a:t>Missing-value imputation, categorical encoding, scaling and outlier handling.</a:t>
            </a:r>
            <a:endParaRPr lang="en-US" sz="950" dirty="0"/>
          </a:p>
        </p:txBody>
      </p:sp>
      <p:sp>
        <p:nvSpPr>
          <p:cNvPr id="10" name="Shape 7"/>
          <p:cNvSpPr/>
          <p:nvPr/>
        </p:nvSpPr>
        <p:spPr>
          <a:xfrm>
            <a:off x="3719587" y="1214958"/>
            <a:ext cx="1499295" cy="2060525"/>
          </a:xfrm>
          <a:prstGeom prst="roundRect">
            <a:avLst>
              <a:gd name="adj" fmla="val 381"/>
            </a:avLst>
          </a:prstGeom>
          <a:solidFill>
            <a:srgbClr val="F8ECE4"/>
          </a:solidFill>
          <a:ln w="4763">
            <a:solidFill>
              <a:srgbClr val="151617"/>
            </a:solidFill>
            <a:prstDash val="solid"/>
          </a:ln>
          <a:effectLst>
            <a:outerShdw blurRad="101600" dist="16510" dir="2700000" algn="bl" rotWithShape="0">
              <a:srgbClr val="151617">
                <a:alpha val="100000"/>
              </a:srgbClr>
            </a:outerShdw>
          </a:effectLst>
        </p:spPr>
      </p:sp>
      <p:sp>
        <p:nvSpPr>
          <p:cNvPr id="11" name="Text 8"/>
          <p:cNvSpPr/>
          <p:nvPr/>
        </p:nvSpPr>
        <p:spPr>
          <a:xfrm>
            <a:off x="3850556" y="1345927"/>
            <a:ext cx="1237357" cy="394543"/>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151617"/>
                </a:solidFill>
                <a:latin typeface="Montserrat Black" pitchFamily="34" charset="0"/>
                <a:ea typeface="Montserrat Black" pitchFamily="34" charset="-122"/>
                <a:cs typeface="Montserrat Black" pitchFamily="34" charset="-120"/>
              </a:rPr>
              <a:t>3. Model Training</a:t>
            </a:r>
            <a:endParaRPr lang="en-US" sz="1200" dirty="0"/>
          </a:p>
        </p:txBody>
      </p:sp>
      <p:sp>
        <p:nvSpPr>
          <p:cNvPr id="12" name="Text 9"/>
          <p:cNvSpPr/>
          <p:nvPr/>
        </p:nvSpPr>
        <p:spPr>
          <a:xfrm>
            <a:off x="3850556" y="1807890"/>
            <a:ext cx="1237357" cy="1336625"/>
          </a:xfrm>
          <a:prstGeom prst="rect">
            <a:avLst/>
          </a:prstGeom>
          <a:noFill/>
          <a:ln/>
        </p:spPr>
        <p:txBody>
          <a:bodyPr wrap="square" lIns="0" tIns="0" rIns="0" bIns="0" rtlCol="0" anchor="t">
            <a:normAutofit/>
          </a:bodyPr>
          <a:lstStyle/>
          <a:p>
            <a:pPr marL="0" indent="0" algn="l">
              <a:lnSpc>
                <a:spcPct val="126000"/>
              </a:lnSpc>
              <a:buNone/>
            </a:pPr>
            <a:r>
              <a:rPr lang="en-US" sz="950" dirty="0">
                <a:solidFill>
                  <a:srgbClr val="151617"/>
                </a:solidFill>
                <a:latin typeface="Inconsolata" pitchFamily="34" charset="0"/>
                <a:ea typeface="Inconsolata" pitchFamily="34" charset="-122"/>
                <a:cs typeface="Inconsolata" pitchFamily="34" charset="-120"/>
              </a:rPr>
              <a:t>Train regressors (Linear Regression, Random Forest, Gradient Boosting), cross-validate and tune hyperparameters.</a:t>
            </a:r>
            <a:endParaRPr lang="en-US" sz="950" dirty="0"/>
          </a:p>
        </p:txBody>
      </p:sp>
      <p:sp>
        <p:nvSpPr>
          <p:cNvPr id="13" name="Shape 10"/>
          <p:cNvSpPr/>
          <p:nvPr/>
        </p:nvSpPr>
        <p:spPr>
          <a:xfrm>
            <a:off x="496119" y="3387923"/>
            <a:ext cx="4722763" cy="908521"/>
          </a:xfrm>
          <a:prstGeom prst="roundRect">
            <a:avLst>
              <a:gd name="adj" fmla="val 629"/>
            </a:avLst>
          </a:prstGeom>
          <a:solidFill>
            <a:srgbClr val="F8ECE4"/>
          </a:solidFill>
          <a:ln w="4763">
            <a:solidFill>
              <a:srgbClr val="151617"/>
            </a:solidFill>
            <a:prstDash val="solid"/>
          </a:ln>
          <a:effectLst>
            <a:outerShdw blurRad="101600" dist="16510" dir="2700000" algn="bl" rotWithShape="0">
              <a:srgbClr val="151617">
                <a:alpha val="100000"/>
              </a:srgbClr>
            </a:outerShdw>
          </a:effectLst>
        </p:spPr>
      </p:sp>
      <p:sp>
        <p:nvSpPr>
          <p:cNvPr id="14" name="Text 11"/>
          <p:cNvSpPr/>
          <p:nvPr/>
        </p:nvSpPr>
        <p:spPr>
          <a:xfrm>
            <a:off x="627087" y="3518892"/>
            <a:ext cx="4460825" cy="197272"/>
          </a:xfrm>
          <a:prstGeom prst="rect">
            <a:avLst/>
          </a:prstGeom>
          <a:noFill/>
          <a:ln/>
        </p:spPr>
        <p:txBody>
          <a:bodyPr wrap="none" lIns="0" tIns="0" rIns="0" bIns="0" rtlCol="0" anchor="t"/>
          <a:lstStyle/>
          <a:p>
            <a:pPr marL="0" indent="0" algn="l">
              <a:lnSpc>
                <a:spcPct val="104000"/>
              </a:lnSpc>
              <a:buNone/>
            </a:pPr>
            <a:r>
              <a:rPr lang="en-US" sz="1200" dirty="0">
                <a:solidFill>
                  <a:srgbClr val="151617"/>
                </a:solidFill>
                <a:latin typeface="Montserrat Black" pitchFamily="34" charset="0"/>
                <a:ea typeface="Montserrat Black" pitchFamily="34" charset="-122"/>
                <a:cs typeface="Montserrat Black" pitchFamily="34" charset="-120"/>
              </a:rPr>
              <a:t>4. Prediction</a:t>
            </a:r>
            <a:endParaRPr lang="en-US" sz="1200" dirty="0"/>
          </a:p>
        </p:txBody>
      </p:sp>
      <p:sp>
        <p:nvSpPr>
          <p:cNvPr id="15" name="Text 12"/>
          <p:cNvSpPr/>
          <p:nvPr/>
        </p:nvSpPr>
        <p:spPr>
          <a:xfrm>
            <a:off x="627087" y="3783583"/>
            <a:ext cx="4460825" cy="381893"/>
          </a:xfrm>
          <a:prstGeom prst="rect">
            <a:avLst/>
          </a:prstGeom>
          <a:noFill/>
          <a:ln/>
        </p:spPr>
        <p:txBody>
          <a:bodyPr wrap="square" lIns="0" tIns="0" rIns="0" bIns="0" rtlCol="0" anchor="t">
            <a:normAutofit/>
          </a:bodyPr>
          <a:lstStyle/>
          <a:p>
            <a:pPr marL="0" indent="0" algn="l">
              <a:lnSpc>
                <a:spcPct val="126000"/>
              </a:lnSpc>
              <a:buNone/>
            </a:pPr>
            <a:r>
              <a:rPr lang="en-US" sz="950" dirty="0">
                <a:solidFill>
                  <a:srgbClr val="151617"/>
                </a:solidFill>
                <a:latin typeface="Inconsolata" pitchFamily="34" charset="0"/>
                <a:ea typeface="Inconsolata" pitchFamily="34" charset="-122"/>
                <a:cs typeface="Inconsolata" pitchFamily="34" charset="-120"/>
              </a:rPr>
              <a:t>Generate point estimates and confidence intervals; compare against ground truth.</a:t>
            </a:r>
            <a:endParaRPr lang="en-US" sz="950" dirty="0"/>
          </a:p>
        </p:txBody>
      </p:sp>
      <p:sp>
        <p:nvSpPr>
          <p:cNvPr id="16" name="Text 13"/>
          <p:cNvSpPr/>
          <p:nvPr/>
        </p:nvSpPr>
        <p:spPr>
          <a:xfrm>
            <a:off x="496119" y="4422949"/>
            <a:ext cx="4722763" cy="305395"/>
          </a:xfrm>
          <a:prstGeom prst="rect">
            <a:avLst/>
          </a:prstGeom>
          <a:noFill/>
          <a:ln/>
        </p:spPr>
        <p:txBody>
          <a:bodyPr wrap="square" lIns="0" tIns="0" rIns="0" bIns="0" rtlCol="0" anchor="t">
            <a:normAutofit/>
          </a:bodyPr>
          <a:lstStyle/>
          <a:p>
            <a:pPr marL="0" indent="0" algn="l">
              <a:lnSpc>
                <a:spcPct val="126000"/>
              </a:lnSpc>
              <a:buNone/>
            </a:pPr>
            <a:r>
              <a:rPr lang="en-US" sz="750" dirty="0">
                <a:solidFill>
                  <a:srgbClr val="151617"/>
                </a:solidFill>
                <a:latin typeface="Inconsolata" pitchFamily="34" charset="0"/>
                <a:ea typeface="Inconsolata" pitchFamily="34" charset="-122"/>
                <a:cs typeface="Inconsolata" pitchFamily="34" charset="-120"/>
              </a:rPr>
              <a:t>Code highlights (VS Code dark theme): Imports, pipeline creation, model.fit(X_train, y_train), model.predict(X_test)</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415826"/>
            <a:ext cx="4722763" cy="348853"/>
          </a:xfrm>
          <a:prstGeom prst="rect">
            <a:avLst/>
          </a:prstGeom>
          <a:noFill/>
          <a:ln/>
        </p:spPr>
        <p:txBody>
          <a:bodyPr wrap="none" lIns="0" tIns="0" rIns="0" bIns="0" rtlCol="0" anchor="t"/>
          <a:lstStyle/>
          <a:p>
            <a:pPr marL="0" indent="0" algn="l">
              <a:lnSpc>
                <a:spcPct val="104000"/>
              </a:lnSpc>
              <a:buNone/>
            </a:pPr>
            <a:r>
              <a:rPr lang="en-US" sz="2150" dirty="0">
                <a:solidFill>
                  <a:srgbClr val="151617"/>
                </a:solidFill>
                <a:latin typeface="Montserrat Black" pitchFamily="34" charset="0"/>
                <a:ea typeface="Montserrat Black" pitchFamily="34" charset="-122"/>
                <a:cs typeface="Montserrat Black" pitchFamily="34" charset="-120"/>
              </a:rPr>
              <a:t>Results &amp; Output</a:t>
            </a:r>
            <a:endParaRPr lang="en-US" sz="2150" dirty="0"/>
          </a:p>
        </p:txBody>
      </p:sp>
      <p:sp>
        <p:nvSpPr>
          <p:cNvPr id="4" name="Text 1"/>
          <p:cNvSpPr/>
          <p:nvPr/>
        </p:nvSpPr>
        <p:spPr>
          <a:xfrm>
            <a:off x="496119" y="1094333"/>
            <a:ext cx="3154710" cy="221456"/>
          </a:xfrm>
          <a:prstGeom prst="rect">
            <a:avLst/>
          </a:prstGeom>
          <a:noFill/>
          <a:ln/>
        </p:spPr>
        <p:txBody>
          <a:bodyPr wrap="none" lIns="0" tIns="0" rIns="0" bIns="0" rtlCol="0" anchor="t"/>
          <a:lstStyle/>
          <a:p>
            <a:pPr marL="0" indent="0" algn="l">
              <a:lnSpc>
                <a:spcPct val="132000"/>
              </a:lnSpc>
              <a:buNone/>
            </a:pPr>
            <a:r>
              <a:rPr lang="en-US" sz="1050" b="1" dirty="0">
                <a:solidFill>
                  <a:srgbClr val="151617"/>
                </a:solidFill>
                <a:latin typeface="Inconsolata Bold" pitchFamily="34" charset="0"/>
                <a:ea typeface="Inconsolata Bold" pitchFamily="34" charset="-122"/>
                <a:cs typeface="Inconsolata Bold" pitchFamily="34" charset="-120"/>
              </a:rPr>
              <a:t>Key results</a:t>
            </a:r>
            <a:endParaRPr lang="en-US" sz="1050" dirty="0"/>
          </a:p>
        </p:txBody>
      </p:sp>
      <p:sp>
        <p:nvSpPr>
          <p:cNvPr id="5" name="Text 2"/>
          <p:cNvSpPr/>
          <p:nvPr/>
        </p:nvSpPr>
        <p:spPr>
          <a:xfrm>
            <a:off x="496119" y="1439391"/>
            <a:ext cx="2697510" cy="1646337"/>
          </a:xfrm>
          <a:prstGeom prst="rect">
            <a:avLst/>
          </a:prstGeom>
          <a:noFill/>
          <a:ln/>
        </p:spPr>
        <p:txBody>
          <a:bodyPr wrap="square" lIns="0" tIns="0" rIns="0" bIns="0" rtlCol="0" anchor="t">
            <a:normAutofit/>
          </a:bodyPr>
          <a:lstStyle/>
          <a:p>
            <a:pPr marL="213360" indent="-213360" algn="l">
              <a:lnSpc>
                <a:spcPct val="132000"/>
              </a:lnSpc>
              <a:buSzPct val="100000"/>
              <a:buChar char="•"/>
            </a:pPr>
            <a:r>
              <a:rPr lang="en-US" sz="1050" dirty="0">
                <a:solidFill>
                  <a:srgbClr val="151617"/>
                </a:solidFill>
                <a:latin typeface="Inconsolata" pitchFamily="34" charset="0"/>
                <a:ea typeface="Inconsolata" pitchFamily="34" charset="-122"/>
                <a:cs typeface="Inconsolata" pitchFamily="34" charset="-120"/>
              </a:rPr>
              <a:t>Model: Gradient Boosting (best-performing)</a:t>
            </a:r>
            <a:endParaRPr lang="en-US" sz="1050" dirty="0"/>
          </a:p>
          <a:p>
            <a:pPr marL="213360" indent="-213360" algn="l">
              <a:lnSpc>
                <a:spcPct val="132000"/>
              </a:lnSpc>
              <a:buSzPct val="100000"/>
              <a:buChar char="•"/>
            </a:pPr>
            <a:r>
              <a:rPr lang="en-US" sz="1050" dirty="0">
                <a:solidFill>
                  <a:srgbClr val="151617"/>
                </a:solidFill>
                <a:latin typeface="Inconsolata" pitchFamily="34" charset="0"/>
                <a:ea typeface="Inconsolata" pitchFamily="34" charset="-122"/>
                <a:cs typeface="Inconsolata" pitchFamily="34" charset="-120"/>
              </a:rPr>
              <a:t>Validation metric: RMSE and R² reported (detailed numbers in viva)</a:t>
            </a:r>
            <a:endParaRPr lang="en-US" sz="1050" dirty="0"/>
          </a:p>
          <a:p>
            <a:pPr marL="213360" indent="-213360" algn="l">
              <a:lnSpc>
                <a:spcPct val="132000"/>
              </a:lnSpc>
              <a:buSzPct val="100000"/>
              <a:buChar char="•"/>
            </a:pPr>
            <a:r>
              <a:rPr lang="en-US" sz="1050" dirty="0">
                <a:solidFill>
                  <a:srgbClr val="151617"/>
                </a:solidFill>
                <a:latin typeface="Inconsolata" pitchFamily="34" charset="0"/>
                <a:ea typeface="Inconsolata" pitchFamily="34" charset="-122"/>
                <a:cs typeface="Inconsolata" pitchFamily="34" charset="-120"/>
              </a:rPr>
              <a:t>Predicted vs Actual: tight alignment on hold-out set with small residuals</a:t>
            </a:r>
            <a:endParaRPr lang="en-US" sz="1050" dirty="0"/>
          </a:p>
        </p:txBody>
      </p:sp>
      <p:sp>
        <p:nvSpPr>
          <p:cNvPr id="6" name="Text 3"/>
          <p:cNvSpPr/>
          <p:nvPr/>
        </p:nvSpPr>
        <p:spPr>
          <a:xfrm>
            <a:off x="496119" y="3209330"/>
            <a:ext cx="2697510" cy="885825"/>
          </a:xfrm>
          <a:prstGeom prst="rect">
            <a:avLst/>
          </a:prstGeom>
          <a:noFill/>
          <a:ln/>
        </p:spPr>
        <p:txBody>
          <a:bodyPr wrap="square" lIns="0" tIns="0" rIns="0" bIns="0" rtlCol="0" anchor="t">
            <a:normAutofit/>
          </a:bodyPr>
          <a:lstStyle/>
          <a:p>
            <a:pPr marL="0" indent="0" algn="l">
              <a:lnSpc>
                <a:spcPct val="132000"/>
              </a:lnSpc>
              <a:buNone/>
            </a:pPr>
            <a:r>
              <a:rPr lang="en-US" sz="1050" dirty="0">
                <a:solidFill>
                  <a:srgbClr val="151617"/>
                </a:solidFill>
                <a:latin typeface="Inconsolata" pitchFamily="34" charset="0"/>
                <a:ea typeface="Inconsolata" pitchFamily="34" charset="-122"/>
                <a:cs typeface="Inconsolata" pitchFamily="34" charset="-120"/>
              </a:rPr>
              <a:t>Sample predicted price: model predicts competitive market value given input features; full table and interactive dashboard available in appendix/demo.</a:t>
            </a:r>
            <a:endParaRPr lang="en-US" sz="1050" dirty="0"/>
          </a:p>
        </p:txBody>
      </p:sp>
      <p:pic>
        <p:nvPicPr>
          <p:cNvPr id="7" name="Image 1" descr="preencoded.png"/>
          <p:cNvPicPr>
            <a:picLocks noChangeAspect="1"/>
          </p:cNvPicPr>
          <p:nvPr/>
        </p:nvPicPr>
        <p:blipFill>
          <a:blip r:embed="rId4"/>
          <a:stretch>
            <a:fillRect/>
          </a:stretch>
        </p:blipFill>
        <p:spPr>
          <a:xfrm>
            <a:off x="3538761" y="1125215"/>
            <a:ext cx="1684883" cy="1684883"/>
          </a:xfrm>
          <a:prstGeom prst="rect">
            <a:avLst/>
          </a:prstGeom>
        </p:spPr>
      </p:pic>
      <p:sp>
        <p:nvSpPr>
          <p:cNvPr id="8" name="Text 4"/>
          <p:cNvSpPr/>
          <p:nvPr/>
        </p:nvSpPr>
        <p:spPr>
          <a:xfrm>
            <a:off x="496119" y="4373240"/>
            <a:ext cx="4722763" cy="354360"/>
          </a:xfrm>
          <a:prstGeom prst="rect">
            <a:avLst/>
          </a:prstGeom>
          <a:noFill/>
          <a:ln/>
        </p:spPr>
        <p:txBody>
          <a:bodyPr wrap="square" lIns="0" tIns="0" rIns="0" bIns="0" rtlCol="0" anchor="t">
            <a:normAutofit/>
          </a:bodyPr>
          <a:lstStyle/>
          <a:p>
            <a:pPr marL="0" indent="0" algn="l">
              <a:lnSpc>
                <a:spcPct val="132000"/>
              </a:lnSpc>
              <a:buNone/>
            </a:pPr>
            <a:r>
              <a:rPr lang="en-US" sz="850" dirty="0">
                <a:solidFill>
                  <a:srgbClr val="151617"/>
                </a:solidFill>
                <a:latin typeface="Inconsolata" pitchFamily="34" charset="0"/>
                <a:ea typeface="Inconsolata" pitchFamily="34" charset="-122"/>
                <a:cs typeface="Inconsolata" pitchFamily="34" charset="-120"/>
              </a:rPr>
              <a:t>Note: Exact numeric metrics should be presented with full context during viva — these illustrative values indicate model performance trends.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512118"/>
            <a:ext cx="4722763" cy="609005"/>
          </a:xfrm>
          <a:prstGeom prst="rect">
            <a:avLst/>
          </a:prstGeom>
          <a:noFill/>
          <a:ln/>
        </p:spPr>
        <p:txBody>
          <a:bodyPr wrap="square" lIns="0" tIns="0" rIns="0" bIns="0" rtlCol="0" anchor="t">
            <a:normAutofit/>
          </a:bodyPr>
          <a:lstStyle/>
          <a:p>
            <a:pPr marL="0" indent="0" algn="l">
              <a:lnSpc>
                <a:spcPct val="104000"/>
              </a:lnSpc>
              <a:buNone/>
            </a:pPr>
            <a:r>
              <a:rPr lang="en-US" sz="1900" dirty="0">
                <a:solidFill>
                  <a:srgbClr val="151617"/>
                </a:solidFill>
                <a:latin typeface="Montserrat Black" pitchFamily="34" charset="0"/>
                <a:ea typeface="Montserrat Black" pitchFamily="34" charset="-122"/>
                <a:cs typeface="Montserrat Black" pitchFamily="34" charset="-120"/>
              </a:rPr>
              <a:t>Advantages, Limitations &amp; Future Scope</a:t>
            </a:r>
            <a:endParaRPr lang="en-US" sz="190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1278136"/>
            <a:ext cx="1504504" cy="3353172"/>
          </a:xfrm>
          <a:prstGeom prst="rect">
            <a:avLst/>
          </a:prstGeom>
        </p:spPr>
      </p:pic>
      <p:sp>
        <p:nvSpPr>
          <p:cNvPr id="5" name="Text 1"/>
          <p:cNvSpPr/>
          <p:nvPr/>
        </p:nvSpPr>
        <p:spPr>
          <a:xfrm>
            <a:off x="689372" y="1414239"/>
            <a:ext cx="1175147" cy="190351"/>
          </a:xfrm>
          <a:prstGeom prst="rect">
            <a:avLst/>
          </a:prstGeom>
          <a:noFill/>
          <a:ln/>
        </p:spPr>
        <p:txBody>
          <a:bodyPr wrap="none" lIns="0" tIns="0" rIns="0" bIns="0" rtlCol="0" anchor="t"/>
          <a:lstStyle/>
          <a:p>
            <a:pPr marL="0" indent="0" algn="l">
              <a:lnSpc>
                <a:spcPct val="104000"/>
              </a:lnSpc>
              <a:buNone/>
            </a:pPr>
            <a:r>
              <a:rPr lang="en-US" sz="1150" dirty="0">
                <a:solidFill>
                  <a:srgbClr val="151617"/>
                </a:solidFill>
                <a:latin typeface="Montserrat Black" pitchFamily="34" charset="0"/>
                <a:ea typeface="Montserrat Black" pitchFamily="34" charset="-122"/>
                <a:cs typeface="Montserrat Black" pitchFamily="34" charset="-120"/>
              </a:rPr>
              <a:t>Advantages</a:t>
            </a:r>
            <a:endParaRPr lang="en-US" sz="1150" dirty="0"/>
          </a:p>
        </p:txBody>
      </p:sp>
      <p:sp>
        <p:nvSpPr>
          <p:cNvPr id="6" name="Text 2"/>
          <p:cNvSpPr/>
          <p:nvPr/>
        </p:nvSpPr>
        <p:spPr>
          <a:xfrm>
            <a:off x="689372" y="1667396"/>
            <a:ext cx="1175147" cy="1704008"/>
          </a:xfrm>
          <a:prstGeom prst="rect">
            <a:avLst/>
          </a:prstGeom>
          <a:noFill/>
          <a:ln/>
        </p:spPr>
        <p:txBody>
          <a:bodyPr wrap="square" lIns="0" tIns="0" rIns="0" bIns="0" rtlCol="0" anchor="t">
            <a:normAutofit/>
          </a:bodyPr>
          <a:lstStyle/>
          <a:p>
            <a:pPr marL="193040" indent="-193040" algn="l">
              <a:lnSpc>
                <a:spcPct val="124000"/>
              </a:lnSpc>
              <a:buSzPct val="100000"/>
              <a:buChar char="•"/>
            </a:pPr>
            <a:r>
              <a:rPr lang="en-US" sz="950" dirty="0">
                <a:solidFill>
                  <a:srgbClr val="151617"/>
                </a:solidFill>
                <a:latin typeface="Inconsolata" pitchFamily="34" charset="0"/>
                <a:ea typeface="Inconsolata" pitchFamily="34" charset="-122"/>
                <a:cs typeface="Inconsolata" pitchFamily="34" charset="-120"/>
              </a:rPr>
              <a:t>Fast, repeatable valuations</a:t>
            </a:r>
            <a:endParaRPr lang="en-US" sz="950" dirty="0"/>
          </a:p>
          <a:p>
            <a:pPr marL="193040" indent="-193040" algn="l">
              <a:lnSpc>
                <a:spcPct val="124000"/>
              </a:lnSpc>
              <a:buSzPct val="100000"/>
              <a:buChar char="•"/>
            </a:pPr>
            <a:r>
              <a:rPr lang="en-US" sz="950" dirty="0">
                <a:solidFill>
                  <a:srgbClr val="151617"/>
                </a:solidFill>
                <a:latin typeface="Inconsolata" pitchFamily="34" charset="0"/>
                <a:ea typeface="Inconsolata" pitchFamily="34" charset="-122"/>
                <a:cs typeface="Inconsolata" pitchFamily="34" charset="-120"/>
              </a:rPr>
              <a:t>High predictive accuracy with engineered features</a:t>
            </a:r>
            <a:endParaRPr lang="en-US" sz="950" dirty="0"/>
          </a:p>
          <a:p>
            <a:pPr marL="193040" indent="-193040" algn="l">
              <a:lnSpc>
                <a:spcPct val="124000"/>
              </a:lnSpc>
              <a:buSzPct val="100000"/>
              <a:buChar char="•"/>
            </a:pPr>
            <a:r>
              <a:rPr lang="en-US" sz="950" dirty="0">
                <a:solidFill>
                  <a:srgbClr val="151617"/>
                </a:solidFill>
                <a:latin typeface="Inconsolata" pitchFamily="34" charset="0"/>
                <a:ea typeface="Inconsolata" pitchFamily="34" charset="-122"/>
                <a:cs typeface="Inconsolata" pitchFamily="34" charset="-120"/>
              </a:rPr>
              <a:t>Scalable: batch and real-time predictions</a:t>
            </a:r>
            <a:endParaRPr lang="en-US" sz="95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5248" y="1278136"/>
            <a:ext cx="1504504" cy="3353172"/>
          </a:xfrm>
          <a:prstGeom prst="rect">
            <a:avLst/>
          </a:prstGeom>
        </p:spPr>
      </p:pic>
      <p:sp>
        <p:nvSpPr>
          <p:cNvPr id="8" name="Text 3"/>
          <p:cNvSpPr/>
          <p:nvPr/>
        </p:nvSpPr>
        <p:spPr>
          <a:xfrm>
            <a:off x="2298502" y="1414239"/>
            <a:ext cx="1175147" cy="190351"/>
          </a:xfrm>
          <a:prstGeom prst="rect">
            <a:avLst/>
          </a:prstGeom>
          <a:noFill/>
          <a:ln/>
        </p:spPr>
        <p:txBody>
          <a:bodyPr wrap="none" lIns="0" tIns="0" rIns="0" bIns="0" rtlCol="0" anchor="t"/>
          <a:lstStyle/>
          <a:p>
            <a:pPr marL="0" indent="0" algn="l">
              <a:lnSpc>
                <a:spcPct val="104000"/>
              </a:lnSpc>
              <a:buNone/>
            </a:pPr>
            <a:r>
              <a:rPr lang="en-US" sz="1150" dirty="0">
                <a:solidFill>
                  <a:srgbClr val="151617"/>
                </a:solidFill>
                <a:latin typeface="Montserrat Black" pitchFamily="34" charset="0"/>
                <a:ea typeface="Montserrat Black" pitchFamily="34" charset="-122"/>
                <a:cs typeface="Montserrat Black" pitchFamily="34" charset="-120"/>
              </a:rPr>
              <a:t>Limitations</a:t>
            </a:r>
            <a:endParaRPr lang="en-US" sz="1150" dirty="0"/>
          </a:p>
        </p:txBody>
      </p:sp>
      <p:sp>
        <p:nvSpPr>
          <p:cNvPr id="9" name="Text 4"/>
          <p:cNvSpPr/>
          <p:nvPr/>
        </p:nvSpPr>
        <p:spPr>
          <a:xfrm>
            <a:off x="2298502" y="1667396"/>
            <a:ext cx="1175147" cy="2791197"/>
          </a:xfrm>
          <a:prstGeom prst="rect">
            <a:avLst/>
          </a:prstGeom>
          <a:noFill/>
          <a:ln/>
        </p:spPr>
        <p:txBody>
          <a:bodyPr wrap="square" lIns="0" tIns="0" rIns="0" bIns="0" rtlCol="0" anchor="t">
            <a:normAutofit/>
          </a:bodyPr>
          <a:lstStyle/>
          <a:p>
            <a:pPr marL="193040" indent="-193040" algn="l">
              <a:lnSpc>
                <a:spcPct val="124000"/>
              </a:lnSpc>
              <a:buSzPct val="100000"/>
              <a:buChar char="•"/>
            </a:pPr>
            <a:r>
              <a:rPr lang="en-US" sz="950" dirty="0">
                <a:solidFill>
                  <a:srgbClr val="151617"/>
                </a:solidFill>
                <a:latin typeface="Inconsolata" pitchFamily="34" charset="0"/>
                <a:ea typeface="Inconsolata" pitchFamily="34" charset="-122"/>
                <a:cs typeface="Inconsolata" pitchFamily="34" charset="-120"/>
              </a:rPr>
              <a:t>Performance depends on dataset quality and representativeness</a:t>
            </a:r>
            <a:endParaRPr lang="en-US" sz="950" dirty="0"/>
          </a:p>
          <a:p>
            <a:pPr marL="193040" indent="-193040" algn="l">
              <a:lnSpc>
                <a:spcPct val="124000"/>
              </a:lnSpc>
              <a:buSzPct val="100000"/>
              <a:buChar char="•"/>
            </a:pPr>
            <a:r>
              <a:rPr lang="en-US" sz="950" dirty="0">
                <a:solidFill>
                  <a:srgbClr val="151617"/>
                </a:solidFill>
                <a:latin typeface="Inconsolata" pitchFamily="34" charset="0"/>
                <a:ea typeface="Inconsolata" pitchFamily="34" charset="-122"/>
                <a:cs typeface="Inconsolata" pitchFamily="34" charset="-120"/>
              </a:rPr>
              <a:t>Market volatility and rare events can reduce accuracy</a:t>
            </a:r>
            <a:endParaRPr lang="en-US" sz="950" dirty="0"/>
          </a:p>
          <a:p>
            <a:pPr marL="193040" indent="-193040" algn="l">
              <a:lnSpc>
                <a:spcPct val="124000"/>
              </a:lnSpc>
              <a:buSzPct val="100000"/>
              <a:buChar char="•"/>
            </a:pPr>
            <a:r>
              <a:rPr lang="en-US" sz="950" dirty="0">
                <a:solidFill>
                  <a:srgbClr val="151617"/>
                </a:solidFill>
                <a:latin typeface="Inconsolata" pitchFamily="34" charset="0"/>
                <a:ea typeface="Inconsolata" pitchFamily="34" charset="-122"/>
                <a:cs typeface="Inconsolata" pitchFamily="34" charset="-120"/>
              </a:rPr>
              <a:t>Bias risk if training data reflects historical inequities</a:t>
            </a:r>
            <a:endParaRPr lang="en-US" sz="95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14378" y="1278136"/>
            <a:ext cx="1504504" cy="3353172"/>
          </a:xfrm>
          <a:prstGeom prst="rect">
            <a:avLst/>
          </a:prstGeom>
        </p:spPr>
      </p:pic>
      <p:sp>
        <p:nvSpPr>
          <p:cNvPr id="11" name="Text 5"/>
          <p:cNvSpPr/>
          <p:nvPr/>
        </p:nvSpPr>
        <p:spPr>
          <a:xfrm>
            <a:off x="3907631" y="1414239"/>
            <a:ext cx="1175147" cy="190351"/>
          </a:xfrm>
          <a:prstGeom prst="rect">
            <a:avLst/>
          </a:prstGeom>
          <a:noFill/>
          <a:ln/>
        </p:spPr>
        <p:txBody>
          <a:bodyPr wrap="none" lIns="0" tIns="0" rIns="0" bIns="0" rtlCol="0" anchor="t"/>
          <a:lstStyle/>
          <a:p>
            <a:pPr marL="0" indent="0" algn="l">
              <a:lnSpc>
                <a:spcPct val="104000"/>
              </a:lnSpc>
              <a:buNone/>
            </a:pPr>
            <a:r>
              <a:rPr lang="en-US" sz="1150" dirty="0">
                <a:solidFill>
                  <a:srgbClr val="151617"/>
                </a:solidFill>
                <a:latin typeface="Montserrat Black" pitchFamily="34" charset="0"/>
                <a:ea typeface="Montserrat Black" pitchFamily="34" charset="-122"/>
                <a:cs typeface="Montserrat Black" pitchFamily="34" charset="-120"/>
              </a:rPr>
              <a:t>Future Scope</a:t>
            </a:r>
            <a:endParaRPr lang="en-US" sz="1150" dirty="0"/>
          </a:p>
        </p:txBody>
      </p:sp>
      <p:sp>
        <p:nvSpPr>
          <p:cNvPr id="12" name="Text 6"/>
          <p:cNvSpPr/>
          <p:nvPr/>
        </p:nvSpPr>
        <p:spPr>
          <a:xfrm>
            <a:off x="3907631" y="1667396"/>
            <a:ext cx="1175147" cy="2827809"/>
          </a:xfrm>
          <a:prstGeom prst="rect">
            <a:avLst/>
          </a:prstGeom>
          <a:noFill/>
          <a:ln/>
        </p:spPr>
        <p:txBody>
          <a:bodyPr wrap="square" lIns="0" tIns="0" rIns="0" bIns="0" rtlCol="0" anchor="t">
            <a:normAutofit/>
          </a:bodyPr>
          <a:lstStyle/>
          <a:p>
            <a:pPr marL="193040" indent="-193040" algn="l">
              <a:lnSpc>
                <a:spcPct val="124000"/>
              </a:lnSpc>
              <a:buSzPct val="100000"/>
              <a:buChar char="•"/>
            </a:pPr>
            <a:r>
              <a:rPr lang="en-US" sz="950" dirty="0">
                <a:solidFill>
                  <a:srgbClr val="151617"/>
                </a:solidFill>
                <a:latin typeface="Inconsolata" pitchFamily="34" charset="0"/>
                <a:ea typeface="Inconsolata" pitchFamily="34" charset="-122"/>
                <a:cs typeface="Inconsolata" pitchFamily="34" charset="-120"/>
              </a:rPr>
              <a:t>Production web application with interactive dashboard</a:t>
            </a:r>
            <a:endParaRPr lang="en-US" sz="950" dirty="0"/>
          </a:p>
          <a:p>
            <a:pPr marL="193040" indent="-193040" algn="l">
              <a:lnSpc>
                <a:spcPct val="124000"/>
              </a:lnSpc>
              <a:buSzPct val="100000"/>
              <a:buChar char="•"/>
            </a:pPr>
            <a:r>
              <a:rPr lang="en-US" sz="950" dirty="0">
                <a:solidFill>
                  <a:srgbClr val="151617"/>
                </a:solidFill>
                <a:latin typeface="Inconsolata" pitchFamily="34" charset="0"/>
                <a:ea typeface="Inconsolata" pitchFamily="34" charset="-122"/>
                <a:cs typeface="Inconsolata" pitchFamily="34" charset="-120"/>
              </a:rPr>
              <a:t>Mobile app for on-site valuations</a:t>
            </a:r>
            <a:endParaRPr lang="en-US" sz="950" dirty="0"/>
          </a:p>
          <a:p>
            <a:pPr marL="193040" indent="-193040" algn="l">
              <a:lnSpc>
                <a:spcPct val="124000"/>
              </a:lnSpc>
              <a:buSzPct val="100000"/>
              <a:buChar char="•"/>
            </a:pPr>
            <a:r>
              <a:rPr lang="en-US" sz="950" dirty="0">
                <a:solidFill>
                  <a:srgbClr val="151617"/>
                </a:solidFill>
                <a:latin typeface="Inconsolata" pitchFamily="34" charset="0"/>
                <a:ea typeface="Inconsolata" pitchFamily="34" charset="-122"/>
                <a:cs typeface="Inconsolata" pitchFamily="34" charset="-120"/>
              </a:rPr>
              <a:t>Cloud deployment with streaming property feeds</a:t>
            </a:r>
            <a:endParaRPr lang="en-US" sz="950" dirty="0"/>
          </a:p>
          <a:p>
            <a:pPr marL="193040" indent="-193040" algn="l">
              <a:lnSpc>
                <a:spcPct val="124000"/>
              </a:lnSpc>
              <a:buSzPct val="100000"/>
              <a:buChar char="•"/>
            </a:pPr>
            <a:r>
              <a:rPr lang="en-US" sz="950" dirty="0">
                <a:solidFill>
                  <a:srgbClr val="151617"/>
                </a:solidFill>
                <a:latin typeface="Inconsolata" pitchFamily="34" charset="0"/>
                <a:ea typeface="Inconsolata" pitchFamily="34" charset="-122"/>
                <a:cs typeface="Inconsolata" pitchFamily="34" charset="-120"/>
              </a:rPr>
              <a:t>Integrate geospatial and transaction-timestamp modelling</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131168"/>
            <a:ext cx="4722763" cy="354360"/>
          </a:xfrm>
          <a:prstGeom prst="rect">
            <a:avLst/>
          </a:prstGeom>
          <a:noFill/>
          <a:ln/>
        </p:spPr>
        <p:txBody>
          <a:bodyPr wrap="none" lIns="0" tIns="0" rIns="0" bIns="0" rtlCol="0" anchor="t"/>
          <a:lstStyle/>
          <a:p>
            <a:pPr marL="0" indent="0" algn="l">
              <a:lnSpc>
                <a:spcPct val="104000"/>
              </a:lnSpc>
              <a:buNone/>
            </a:pPr>
            <a:r>
              <a:rPr lang="en-US" sz="2200" dirty="0">
                <a:solidFill>
                  <a:srgbClr val="151617"/>
                </a:solidFill>
                <a:latin typeface="Montserrat Black" pitchFamily="34" charset="0"/>
                <a:ea typeface="Montserrat Black" pitchFamily="34" charset="-122"/>
                <a:cs typeface="Montserrat Black" pitchFamily="34" charset="-120"/>
              </a:rPr>
              <a:t>Conclusion</a:t>
            </a:r>
            <a:endParaRPr lang="en-US" sz="2200" dirty="0"/>
          </a:p>
        </p:txBody>
      </p:sp>
      <p:sp>
        <p:nvSpPr>
          <p:cNvPr id="4" name="Text 1"/>
          <p:cNvSpPr/>
          <p:nvPr/>
        </p:nvSpPr>
        <p:spPr>
          <a:xfrm>
            <a:off x="3925119" y="1698129"/>
            <a:ext cx="4722763" cy="1360884"/>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51617"/>
                </a:solidFill>
                <a:latin typeface="Inconsolata" pitchFamily="34" charset="0"/>
                <a:ea typeface="Inconsolata" pitchFamily="34" charset="-122"/>
                <a:cs typeface="Inconsolata" pitchFamily="34" charset="-120"/>
              </a:rPr>
              <a:t>HomeValue AI demonstrates how machine learning can transform property valuation: analysing historical housing data, extracting meaningful features, and producing rapid, reliable price estimates that support stakeholders across the real estate lifecycle. The modular pipeline and clear methodology enable reproducible results and straightforward paths to deployment.</a:t>
            </a:r>
            <a:endParaRPr lang="en-US" sz="1100" dirty="0"/>
          </a:p>
        </p:txBody>
      </p:sp>
      <p:sp>
        <p:nvSpPr>
          <p:cNvPr id="5" name="Shape 2"/>
          <p:cNvSpPr/>
          <p:nvPr/>
        </p:nvSpPr>
        <p:spPr>
          <a:xfrm>
            <a:off x="3925119" y="3218483"/>
            <a:ext cx="4722763" cy="793775"/>
          </a:xfrm>
          <a:prstGeom prst="roundRect">
            <a:avLst>
              <a:gd name="adj" fmla="val 720"/>
            </a:avLst>
          </a:prstGeom>
          <a:solidFill>
            <a:srgbClr val="E4E6E7"/>
          </a:solidFill>
          <a:ln/>
        </p:spPr>
      </p:sp>
      <p:pic>
        <p:nvPicPr>
          <p:cNvPr id="6" name="Image 1" descr="preencoded.png"/>
          <p:cNvPicPr>
            <a:picLocks noChangeAspect="1"/>
          </p:cNvPicPr>
          <p:nvPr/>
        </p:nvPicPr>
        <p:blipFill>
          <a:blip r:embed="rId4"/>
          <a:stretch>
            <a:fillRect/>
          </a:stretch>
        </p:blipFill>
        <p:spPr>
          <a:xfrm>
            <a:off x="4066877" y="3419252"/>
            <a:ext cx="177180" cy="141759"/>
          </a:xfrm>
          <a:prstGeom prst="rect">
            <a:avLst/>
          </a:prstGeom>
        </p:spPr>
      </p:pic>
      <p:sp>
        <p:nvSpPr>
          <p:cNvPr id="7" name="Text 3"/>
          <p:cNvSpPr/>
          <p:nvPr/>
        </p:nvSpPr>
        <p:spPr>
          <a:xfrm>
            <a:off x="4385816" y="3395663"/>
            <a:ext cx="4120307"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000000"/>
                </a:solidFill>
                <a:latin typeface="Inconsolata" pitchFamily="34" charset="0"/>
                <a:ea typeface="Inconsolata" pitchFamily="34" charset="-122"/>
                <a:cs typeface="Inconsolata" pitchFamily="34" charset="-120"/>
              </a:rPr>
              <a:t>Key takeaway: AI augments expert judgement — faster valuations, data-driven confidence, and scalable delivery.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665634"/>
            <a:ext cx="8151763" cy="442987"/>
          </a:xfrm>
          <a:prstGeom prst="rect">
            <a:avLst/>
          </a:prstGeom>
          <a:noFill/>
          <a:ln/>
        </p:spPr>
        <p:txBody>
          <a:bodyPr wrap="none" lIns="0" tIns="0" rIns="0" bIns="0" rtlCol="0" anchor="t"/>
          <a:lstStyle/>
          <a:p>
            <a:pPr marL="0" indent="0" algn="ctr">
              <a:lnSpc>
                <a:spcPct val="104000"/>
              </a:lnSpc>
              <a:buNone/>
            </a:pPr>
            <a:r>
              <a:rPr lang="en-US" sz="2750" dirty="0">
                <a:solidFill>
                  <a:srgbClr val="151617"/>
                </a:solidFill>
                <a:latin typeface="Montserrat Black" pitchFamily="34" charset="0"/>
                <a:ea typeface="Montserrat Black" pitchFamily="34" charset="-122"/>
                <a:cs typeface="Montserrat Black" pitchFamily="34" charset="-120"/>
              </a:rPr>
              <a:t>THANK YOU</a:t>
            </a:r>
            <a:endParaRPr lang="en-US" sz="2750" dirty="0"/>
          </a:p>
        </p:txBody>
      </p:sp>
      <p:sp>
        <p:nvSpPr>
          <p:cNvPr id="3" name="Text 1"/>
          <p:cNvSpPr/>
          <p:nvPr/>
        </p:nvSpPr>
        <p:spPr>
          <a:xfrm>
            <a:off x="496119" y="1392138"/>
            <a:ext cx="8151763" cy="999381"/>
          </a:xfrm>
          <a:prstGeom prst="rect">
            <a:avLst/>
          </a:prstGeom>
          <a:noFill/>
          <a:ln/>
        </p:spPr>
        <p:txBody>
          <a:bodyPr wrap="square" lIns="0" tIns="0" rIns="0" bIns="0" rtlCol="0" anchor="t"/>
          <a:lstStyle/>
          <a:p>
            <a:pPr marL="0" indent="0" algn="ctr">
              <a:lnSpc>
                <a:spcPct val="133000"/>
              </a:lnSpc>
              <a:buNone/>
            </a:pPr>
            <a:r>
              <a:rPr lang="en-US" sz="1100" dirty="0">
                <a:solidFill>
                  <a:srgbClr val="151617"/>
                </a:solidFill>
                <a:latin typeface="Inconsolata" pitchFamily="34" charset="0"/>
                <a:ea typeface="Inconsolata" pitchFamily="34" charset="-122"/>
                <a:cs typeface="Inconsolata" pitchFamily="34" charset="-120"/>
              </a:rPr>
              <a:t>Presented by: </a:t>
            </a:r>
            <a:r>
              <a:rPr lang="en-US" sz="1100" b="1" dirty="0">
                <a:solidFill>
                  <a:srgbClr val="151617"/>
                </a:solidFill>
                <a:latin typeface="Inconsolata Bold" pitchFamily="34" charset="0"/>
                <a:ea typeface="Inconsolata Bold" pitchFamily="34" charset="-122"/>
                <a:cs typeface="Inconsolata Bold" pitchFamily="34" charset="-120"/>
              </a:rPr>
              <a:t>Diya Sheokand</a:t>
            </a:r>
            <a:r>
              <a:rPr lang="en-US" sz="1100" dirty="0">
                <a:solidFill>
                  <a:srgbClr val="151617"/>
                </a:solidFill>
                <a:latin typeface="Inconsolata" pitchFamily="34" charset="0"/>
                <a:ea typeface="Inconsolata" pitchFamily="34" charset="-122"/>
                <a:cs typeface="Inconsolata" pitchFamily="34" charset="-120"/>
              </a:rPr>
              <a:t> — B.Sc. Computer </a:t>
            </a:r>
            <a:r>
              <a:rPr lang="en-US" sz="1100">
                <a:solidFill>
                  <a:srgbClr val="151617"/>
                </a:solidFill>
                <a:latin typeface="Inconsolata" pitchFamily="34" charset="0"/>
                <a:ea typeface="Inconsolata" pitchFamily="34" charset="-122"/>
                <a:cs typeface="Inconsolata" pitchFamily="34" charset="-120"/>
              </a:rPr>
              <a:t>Science,Pggcg42, </a:t>
            </a:r>
            <a:r>
              <a:rPr lang="en-US" sz="1100" dirty="0">
                <a:solidFill>
                  <a:srgbClr val="151617"/>
                </a:solidFill>
                <a:latin typeface="Inconsolata" pitchFamily="34" charset="0"/>
                <a:ea typeface="Inconsolata" pitchFamily="34" charset="-122"/>
                <a:cs typeface="Inconsolata" pitchFamily="34" charset="-120"/>
              </a:rPr>
              <a:t>Panjab University, Chandigarh</a:t>
            </a:r>
            <a:endParaRPr lang="en-US" sz="1100" dirty="0"/>
          </a:p>
          <a:p>
            <a:pPr marL="0" indent="0" algn="ctr">
              <a:lnSpc>
                <a:spcPct val="133000"/>
              </a:lnSpc>
              <a:buNone/>
            </a:pPr>
            <a:r>
              <a:rPr lang="en-US" sz="1100" dirty="0">
                <a:solidFill>
                  <a:srgbClr val="151617"/>
                </a:solidFill>
                <a:latin typeface="Inconsolata" pitchFamily="34" charset="0"/>
                <a:ea typeface="Inconsolata" pitchFamily="34" charset="-122"/>
                <a:cs typeface="Inconsolata" pitchFamily="34" charset="-120"/>
              </a:rPr>
              <a:t>Internship Organization: </a:t>
            </a:r>
            <a:r>
              <a:rPr lang="en-US" sz="1100" b="1" dirty="0">
                <a:solidFill>
                  <a:srgbClr val="151617"/>
                </a:solidFill>
                <a:latin typeface="Inconsolata Bold" pitchFamily="34" charset="0"/>
                <a:ea typeface="Inconsolata Bold" pitchFamily="34" charset="-122"/>
                <a:cs typeface="Inconsolata Bold" pitchFamily="34" charset="-120"/>
              </a:rPr>
              <a:t>Excellence Technology</a:t>
            </a:r>
            <a:endParaRPr lang="en-US" sz="1100" dirty="0"/>
          </a:p>
          <a:p>
            <a:pPr marL="0" indent="0" algn="ctr">
              <a:lnSpc>
                <a:spcPct val="133000"/>
              </a:lnSpc>
              <a:buNone/>
            </a:pPr>
            <a:r>
              <a:rPr lang="en-US" sz="1100" b="1" u="sng" dirty="0">
                <a:solidFill>
                  <a:srgbClr val="151617"/>
                </a:solidFill>
                <a:latin typeface="Inconsolata Bold" pitchFamily="34" charset="0"/>
                <a:ea typeface="Inconsolata Bold" pitchFamily="34" charset="-122"/>
                <a:cs typeface="Inconsolata Bold" pitchFamily="34" charset="-120"/>
                <a:hlinkClick r:id="rId3">
                  <a:extLst>
                    <a:ext uri="{A12FA001-AC4F-418D-AE19-62706E023703}">
                      <ahyp:hlinkClr xmlns:ahyp="http://schemas.microsoft.com/office/drawing/2018/hyperlinkcolor" val="tx"/>
                    </a:ext>
                  </a:extLst>
                </a:hlinkClick>
              </a:rPr>
              <a:t>Academic Programme: B.Sc. Computer Science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151617"/>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630</Words>
  <Application>Microsoft Office PowerPoint</Application>
  <PresentationFormat>On-screen Show (16:9)</PresentationFormat>
  <Paragraphs>91</Paragraphs>
  <Slides>10</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Montserrat Black</vt:lpstr>
      <vt:lpstr>Arial</vt:lpstr>
      <vt:lpstr>Inconsolata Bold</vt:lpstr>
      <vt:lpstr>Inconsolata</vt:lpstr>
      <vt:lpstr>Open Sans</vt:lpstr>
      <vt:lpstr>Crimson Pro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ASUS</dc:creator>
  <cp:lastModifiedBy>diyasheokand538@outlook.com</cp:lastModifiedBy>
  <cp:revision>2</cp:revision>
  <dcterms:created xsi:type="dcterms:W3CDTF">2026-07-09T07:49:59Z</dcterms:created>
  <dcterms:modified xsi:type="dcterms:W3CDTF">2026-07-09T08:01:35Z</dcterms:modified>
</cp:coreProperties>
</file>